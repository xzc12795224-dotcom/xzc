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industry_evolu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industry_evolutio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a9fe605c33f93e3.png"/>
  <Relationship Id="rId3" Type="http://schemas.openxmlformats.org/officeDocument/2006/relationships/image" Target="../media/image_244172008a41faeb.png"/>
  <Relationship Id="rId4" Type="http://schemas.openxmlformats.org/officeDocument/2006/relationships/image" Target="../media/image_70c08fb4610386aa.png"/>
  <Relationship Id="rId5" Type="http://schemas.openxmlformats.org/officeDocument/2006/relationships/image" Target="../media/image_c7f0a2492d7b3d4b.png"/>
  <Relationship Id="rId6" Type="http://schemas.openxmlformats.org/officeDocument/2006/relationships/image" Target="../media/image_795cafa606136025.png"/>
  <Relationship Id="rId7" Type="http://schemas.openxmlformats.org/officeDocument/2006/relationships/image" Target="../media/image_87a5d184c4157dd8.png"/>
  <Relationship Id="rId8" Type="http://schemas.openxmlformats.org/officeDocument/2006/relationships/image" Target="../media/image_46ca71bb299aabff.png"/>
  <Relationship Id="rId9" Type="http://schemas.openxmlformats.org/officeDocument/2006/relationships/image" Target="../media/image_9431e78dc6fa6798.jp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标题"/>
          <p:cNvGrpSpPr/>
          <p:nvPr/>
        </p:nvGrpSpPr>
        <p:grpSpPr>
          <a:xfrm>
            <a:off x="443484" y="203200"/>
            <a:ext cx="1481328" cy="528066"/>
            <a:chOff x="443484" y="203200"/>
            <a:chExt cx="1481328" cy="528066"/>
          </a:xfrm>
        </p:grpSpPr>
        <p:sp>
          <p:nvSpPr>
            <p:cNvPr id="2" name="标题文字（生产模式）"/>
            <p:cNvSpPr txBox="1"/>
            <p:nvPr/>
          </p:nvSpPr>
          <p:spPr>
            <a:xfrm>
              <a:off x="443484" y="203200"/>
              <a:ext cx="148132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2433"/>
                  </a:solidFill>
                  <a:latin typeface="+mn-lt"/>
                  <a:ea typeface="+mn-ea"/>
                  <a:cs typeface="+mn-cs"/>
                </a:rPr>
                <a:t>生产模式</a:t>
              </a:r>
            </a:p>
          </p:txBody>
        </p:sp>
      </p:grpSp>
      <p:grpSp>
        <p:nvGrpSpPr>
          <p:cNvPr id="6" name="Logo组"/>
          <p:cNvGrpSpPr/>
          <p:nvPr/>
        </p:nvGrpSpPr>
        <p:grpSpPr>
          <a:xfrm>
            <a:off x="10610850" y="190500"/>
            <a:ext cx="1123950" cy="438150"/>
            <a:chOff x="10610850" y="190500"/>
            <a:chExt cx="1123950" cy="438150"/>
          </a:xfrm>
        </p:grpSpPr>
        <p:pic>
          <p:nvPicPr>
            <p:cNvPr id="4" name="Logo-项目标识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10850" y="200025"/>
              <a:ext cx="571500" cy="428625"/>
            </a:xfrm>
            <a:prstGeom prst="rect">
              <a:avLst/>
            </a:prstGeom>
          </p:spPr>
        </p:pic>
        <p:pic>
          <p:nvPicPr>
            <p:cNvPr id="5" name="Logo-暨南大学校徽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96650" y="190500"/>
              <a:ext cx="438150" cy="438150"/>
            </a:xfrm>
            <a:prstGeom prst="rect">
              <a:avLst/>
            </a:prstGeom>
          </p:spPr>
        </p:pic>
      </p:grpSp>
      <p:grpSp>
        <p:nvGrpSpPr>
          <p:cNvPr id="81" name="演进阶梯图（整体）"/>
          <p:cNvGrpSpPr/>
          <p:nvPr/>
        </p:nvGrpSpPr>
        <p:grpSpPr>
          <a:xfrm>
            <a:off x="457200" y="695325"/>
            <a:ext cx="11353800" cy="4486275"/>
            <a:chOff x="457200" y="695325"/>
            <a:chExt cx="11353800" cy="4486275"/>
          </a:xfrm>
        </p:grpSpPr>
        <p:grpSp>
          <p:nvGrpSpPr>
            <p:cNvPr id="13" name="图例"/>
            <p:cNvGrpSpPr/>
            <p:nvPr/>
          </p:nvGrpSpPr>
          <p:grpSpPr>
            <a:xfrm>
              <a:off x="457200" y="850900"/>
              <a:ext cx="1573172" cy="837248"/>
              <a:chOff x="457200" y="850900"/>
              <a:chExt cx="1573172" cy="837248"/>
            </a:xfrm>
          </p:grpSpPr>
          <p:grpSp>
            <p:nvGrpSpPr>
              <p:cNvPr id="9" name="图例-运作管理模式"/>
              <p:cNvGrpSpPr/>
              <p:nvPr/>
            </p:nvGrpSpPr>
            <p:grpSpPr>
              <a:xfrm>
                <a:off x="457200" y="850900"/>
                <a:ext cx="1573172" cy="399098"/>
                <a:chOff x="457200" y="850900"/>
                <a:chExt cx="1573172" cy="399098"/>
              </a:xfrm>
            </p:grpSpPr>
            <p:sp>
              <p:nvSpPr>
                <p:cNvPr id="7" name="图例线-运作管理模式"/>
                <p:cNvSpPr/>
                <p:nvPr/>
              </p:nvSpPr>
              <p:spPr>
                <a:xfrm>
                  <a:off x="457200" y="1057275"/>
                  <a:ext cx="247650" cy="1"/>
                </a:xfrm>
                <a:prstGeom prst="line">
                  <a:avLst/>
                </a:prstGeom>
                <a:noFill/>
                <a:ln w="28575">
                  <a:solidFill>
                    <a:srgbClr val="24599E"/>
                  </a:solidFill>
                  <a:tailEnd type="triangle" w="lg" len="lg"/>
                </a:ln>
              </p:spPr>
            </p:sp>
            <p:sp>
              <p:nvSpPr>
                <p:cNvPr id="8" name="图例文字-运作管理模式"/>
                <p:cNvSpPr txBox="1"/>
                <p:nvPr/>
              </p:nvSpPr>
              <p:spPr>
                <a:xfrm>
                  <a:off x="814388" y="850900"/>
                  <a:ext cx="1215984" cy="3990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425"/>
                    </a:lnSpc>
                  </a:pPr>
                  <a:r>
                    <a:rPr lang="en-US" sz="900" b="1" dirty="0">
                      <a:solidFill>
                        <a:srgbClr val="24599E"/>
                      </a:solidFill>
                      <a:latin typeface="+mn-lt"/>
                      <a:ea typeface="+mn-ea"/>
                      <a:cs typeface="+mn-cs"/>
                    </a:rPr>
                    <a:t>MANAGEMENT MODE</a:t>
                  </a:r>
                </a:p>
                <a:p>
                  <a:pPr algn="l">
                    <a:lnSpc>
                      <a:spcPts val="1425"/>
                    </a:lnSpc>
                  </a:pPr>
                  <a:r>
                    <a:rPr lang="zh-CN" sz="1120" b="1" dirty="0">
                      <a:solidFill>
                        <a:srgbClr val="24599E"/>
                      </a:solidFill>
                      <a:latin typeface="+mn-lt"/>
                      <a:ea typeface="+mn-ea"/>
                      <a:cs typeface="+mn-cs"/>
                    </a:rPr>
                    <a:t>运作管理模式</a:t>
                  </a:r>
                </a:p>
              </p:txBody>
            </p:sp>
          </p:grpSp>
          <p:grpSp>
            <p:nvGrpSpPr>
              <p:cNvPr id="12" name="图例-系统组织结构"/>
              <p:cNvGrpSpPr/>
              <p:nvPr/>
            </p:nvGrpSpPr>
            <p:grpSpPr>
              <a:xfrm>
                <a:off x="457200" y="1289050"/>
                <a:ext cx="1313231" cy="399098"/>
                <a:chOff x="457200" y="1289050"/>
                <a:chExt cx="1313231" cy="399098"/>
              </a:xfrm>
            </p:grpSpPr>
            <p:sp>
              <p:nvSpPr>
                <p:cNvPr id="10" name="图例线-系统组织结构"/>
                <p:cNvSpPr/>
                <p:nvPr/>
              </p:nvSpPr>
              <p:spPr>
                <a:xfrm>
                  <a:off x="457200" y="1495425"/>
                  <a:ext cx="247650" cy="1"/>
                </a:xfrm>
                <a:prstGeom prst="line">
                  <a:avLst/>
                </a:prstGeom>
                <a:noFill/>
                <a:ln w="28575">
                  <a:solidFill>
                    <a:srgbClr val="0F766E"/>
                  </a:solidFill>
                  <a:tailEnd type="triangle" w="lg" len="lg"/>
                </a:ln>
              </p:spPr>
            </p:sp>
            <p:sp>
              <p:nvSpPr>
                <p:cNvPr id="11" name="图例文字-系统组织结构"/>
                <p:cNvSpPr txBox="1"/>
                <p:nvPr/>
              </p:nvSpPr>
              <p:spPr>
                <a:xfrm>
                  <a:off x="814388" y="1289050"/>
                  <a:ext cx="956043" cy="3990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425"/>
                    </a:lnSpc>
                  </a:pPr>
                  <a:r>
                    <a:rPr lang="en-US" sz="900" b="1" dirty="0">
                      <a:solidFill>
                        <a:srgbClr val="0F766E"/>
                      </a:solidFill>
                      <a:latin typeface="+mn-lt"/>
                      <a:ea typeface="+mn-ea"/>
                      <a:cs typeface="+mn-cs"/>
                    </a:rPr>
                    <a:t>System Structure</a:t>
                  </a:r>
                </a:p>
                <a:p>
                  <a:pPr algn="l">
                    <a:lnSpc>
                      <a:spcPts val="1425"/>
                    </a:lnSpc>
                  </a:pPr>
                  <a:r>
                    <a:rPr lang="zh-CN" sz="1120" b="1" dirty="0">
                      <a:solidFill>
                        <a:srgbClr val="0F766E"/>
                      </a:solidFill>
                      <a:latin typeface="+mn-lt"/>
                      <a:ea typeface="+mn-ea"/>
                      <a:cs typeface="+mn-cs"/>
                    </a:rPr>
                    <a:t>系统组织结构</a:t>
                  </a:r>
                </a:p>
              </p:txBody>
            </p:sp>
          </p:grpSp>
        </p:grpSp>
        <p:grpSp>
          <p:nvGrpSpPr>
            <p:cNvPr id="29" name="五个阶段"/>
            <p:cNvGrpSpPr/>
            <p:nvPr/>
          </p:nvGrpSpPr>
          <p:grpSpPr>
            <a:xfrm>
              <a:off x="476250" y="1962150"/>
              <a:ext cx="11201400" cy="2662555"/>
              <a:chOff x="476250" y="1962150"/>
              <a:chExt cx="11201400" cy="2662555"/>
            </a:xfrm>
          </p:grpSpPr>
          <p:grpSp>
            <p:nvGrpSpPr>
              <p:cNvPr id="16" name="阶段 0.X 机械化"/>
              <p:cNvGrpSpPr/>
              <p:nvPr/>
            </p:nvGrpSpPr>
            <p:grpSpPr>
              <a:xfrm>
                <a:off x="476250" y="3562350"/>
                <a:ext cx="2209800" cy="1062355"/>
                <a:chOff x="476250" y="3562350"/>
                <a:chExt cx="2209800" cy="1062355"/>
              </a:xfrm>
            </p:grpSpPr>
            <p:sp>
              <p:nvSpPr>
                <p:cNvPr id="14" name="色块 0.X"/>
                <p:cNvSpPr/>
                <p:nvPr/>
              </p:nvSpPr>
              <p:spPr>
                <a:xfrm>
                  <a:off x="476250" y="3562350"/>
                  <a:ext cx="2209800" cy="914400"/>
                </a:xfrm>
                <a:prstGeom prst="rect">
                  <a:avLst/>
                </a:prstGeom>
                <a:solidFill>
                  <a:srgbClr val="EDF1F6"/>
                </a:solidFill>
                <a:ln>
                  <a:noFill/>
                </a:ln>
              </p:spPr>
            </p:sp>
            <p:sp>
              <p:nvSpPr>
                <p:cNvPr id="15" name="文字 0.X 机械化"/>
                <p:cNvSpPr txBox="1"/>
                <p:nvPr/>
              </p:nvSpPr>
              <p:spPr>
                <a:xfrm>
                  <a:off x="826770" y="3803650"/>
                  <a:ext cx="825453" cy="8210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425"/>
                    </a:lnSpc>
                  </a:pPr>
                  <a:r>
                    <a:rPr lang="en-US" sz="2250" b="1" dirty="0">
                      <a:solidFill>
                        <a:srgbClr val="1A2433"/>
                      </a:solidFill>
                      <a:latin typeface="+mn-lt"/>
                      <a:ea typeface="+mn-ea"/>
                      <a:cs typeface="+mn-cs"/>
                    </a:rPr>
                    <a:t>0.X</a:t>
                  </a:r>
                </a:p>
                <a:p>
                  <a:pPr algn="l">
                    <a:lnSpc>
                      <a:spcPts val="1425"/>
                    </a:lnSpc>
                    <a:spcBef>
                      <a:spcPts val="150"/>
                    </a:spcBef>
                  </a:pPr>
                  <a:r>
                    <a:rPr lang="en-US" sz="980" dirty="0">
                      <a:solidFill>
                        <a:srgbClr val="5C6878"/>
                      </a:solidFill>
                      <a:latin typeface="+mn-lt"/>
                      <a:ea typeface="+mn-ea"/>
                      <a:cs typeface="+mn-cs"/>
                    </a:rPr>
                    <a:t>Mechanization</a:t>
                  </a:r>
                </a:p>
                <a:p>
                  <a:pPr algn="l">
                    <a:lnSpc>
                      <a:spcPts val="1425"/>
                    </a:lnSpc>
                  </a:pPr>
                  <a:r>
                    <a:rPr lang="zh-CN" sz="1120" b="1" dirty="0">
                      <a:solidFill>
                        <a:srgbClr val="1A2433"/>
                      </a:solidFill>
                      <a:latin typeface="+mn-lt"/>
                      <a:ea typeface="+mn-ea"/>
                      <a:cs typeface="+mn-cs"/>
                    </a:rPr>
                    <a:t>机械化</a:t>
                  </a:r>
                </a:p>
              </p:txBody>
            </p:sp>
          </p:grpSp>
          <p:grpSp>
            <p:nvGrpSpPr>
              <p:cNvPr id="19" name="阶段 1.X 电气化"/>
              <p:cNvGrpSpPr/>
              <p:nvPr/>
            </p:nvGrpSpPr>
            <p:grpSpPr>
              <a:xfrm>
                <a:off x="2724150" y="3162300"/>
                <a:ext cx="2209800" cy="1314450"/>
                <a:chOff x="2724150" y="3162300"/>
                <a:chExt cx="2209800" cy="1314450"/>
              </a:xfrm>
            </p:grpSpPr>
            <p:sp>
              <p:nvSpPr>
                <p:cNvPr id="17" name="色块 1.X"/>
                <p:cNvSpPr/>
                <p:nvPr/>
              </p:nvSpPr>
              <p:spPr>
                <a:xfrm>
                  <a:off x="2724150" y="3162300"/>
                  <a:ext cx="2209800" cy="1314450"/>
                </a:xfrm>
                <a:prstGeom prst="rect">
                  <a:avLst/>
                </a:prstGeom>
                <a:solidFill>
                  <a:srgbClr val="DFE6EE"/>
                </a:solidFill>
                <a:ln>
                  <a:noFill/>
                </a:ln>
              </p:spPr>
            </p:sp>
            <p:sp>
              <p:nvSpPr>
                <p:cNvPr id="18" name="文字 1.X 电气化"/>
                <p:cNvSpPr txBox="1"/>
                <p:nvPr/>
              </p:nvSpPr>
              <p:spPr>
                <a:xfrm>
                  <a:off x="3074670" y="3403600"/>
                  <a:ext cx="763024" cy="8210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425"/>
                    </a:lnSpc>
                  </a:pPr>
                  <a:r>
                    <a:rPr lang="en-US" sz="2250" b="1" dirty="0">
                      <a:solidFill>
                        <a:srgbClr val="1A2433"/>
                      </a:solidFill>
                      <a:latin typeface="+mn-lt"/>
                      <a:ea typeface="+mn-ea"/>
                      <a:cs typeface="+mn-cs"/>
                    </a:rPr>
                    <a:t>1.X</a:t>
                  </a:r>
                </a:p>
                <a:p>
                  <a:pPr algn="l">
                    <a:lnSpc>
                      <a:spcPts val="1425"/>
                    </a:lnSpc>
                    <a:spcBef>
                      <a:spcPts val="150"/>
                    </a:spcBef>
                  </a:pPr>
                  <a:r>
                    <a:rPr lang="en-US" sz="980" dirty="0">
                      <a:solidFill>
                        <a:srgbClr val="5C6878"/>
                      </a:solidFill>
                      <a:latin typeface="+mn-lt"/>
                      <a:ea typeface="+mn-ea"/>
                      <a:cs typeface="+mn-cs"/>
                    </a:rPr>
                    <a:t>Electrification</a:t>
                  </a:r>
                </a:p>
                <a:p>
                  <a:pPr algn="l">
                    <a:lnSpc>
                      <a:spcPts val="1425"/>
                    </a:lnSpc>
                  </a:pPr>
                  <a:r>
                    <a:rPr lang="zh-CN" sz="1120" b="1" dirty="0">
                      <a:solidFill>
                        <a:srgbClr val="1A2433"/>
                      </a:solidFill>
                      <a:latin typeface="+mn-lt"/>
                      <a:ea typeface="+mn-ea"/>
                      <a:cs typeface="+mn-cs"/>
                    </a:rPr>
                    <a:t>电气化</a:t>
                  </a:r>
                </a:p>
              </p:txBody>
            </p:sp>
          </p:grpSp>
          <p:grpSp>
            <p:nvGrpSpPr>
              <p:cNvPr id="22" name="阶段 2.X 自动化"/>
              <p:cNvGrpSpPr/>
              <p:nvPr/>
            </p:nvGrpSpPr>
            <p:grpSpPr>
              <a:xfrm>
                <a:off x="4972050" y="2762250"/>
                <a:ext cx="2209800" cy="1714500"/>
                <a:chOff x="4972050" y="2762250"/>
                <a:chExt cx="2209800" cy="1714500"/>
              </a:xfrm>
            </p:grpSpPr>
            <p:sp>
              <p:nvSpPr>
                <p:cNvPr id="20" name="色块 2.X"/>
                <p:cNvSpPr/>
                <p:nvPr/>
              </p:nvSpPr>
              <p:spPr>
                <a:xfrm>
                  <a:off x="4972050" y="2762250"/>
                  <a:ext cx="2209800" cy="1714500"/>
                </a:xfrm>
                <a:prstGeom prst="rect">
                  <a:avLst/>
                </a:prstGeom>
                <a:solidFill>
                  <a:srgbClr val="CDD7E3"/>
                </a:solidFill>
                <a:ln>
                  <a:noFill/>
                </a:ln>
              </p:spPr>
            </p:sp>
            <p:sp>
              <p:nvSpPr>
                <p:cNvPr id="21" name="文字 2.X 自动化"/>
                <p:cNvSpPr txBox="1"/>
                <p:nvPr/>
              </p:nvSpPr>
              <p:spPr>
                <a:xfrm>
                  <a:off x="5322570" y="3003550"/>
                  <a:ext cx="652478" cy="8210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425"/>
                    </a:lnSpc>
                  </a:pPr>
                  <a:r>
                    <a:rPr lang="en-US" sz="2250" b="1" dirty="0">
                      <a:solidFill>
                        <a:srgbClr val="1A2433"/>
                      </a:solidFill>
                      <a:latin typeface="+mn-lt"/>
                      <a:ea typeface="+mn-ea"/>
                      <a:cs typeface="+mn-cs"/>
                    </a:rPr>
                    <a:t>2.X</a:t>
                  </a:r>
                </a:p>
                <a:p>
                  <a:pPr algn="l">
                    <a:lnSpc>
                      <a:spcPts val="1425"/>
                    </a:lnSpc>
                    <a:spcBef>
                      <a:spcPts val="150"/>
                    </a:spcBef>
                  </a:pPr>
                  <a:r>
                    <a:rPr lang="en-US" sz="980" dirty="0">
                      <a:solidFill>
                        <a:srgbClr val="5C6878"/>
                      </a:solidFill>
                      <a:latin typeface="+mn-lt"/>
                      <a:ea typeface="+mn-ea"/>
                      <a:cs typeface="+mn-cs"/>
                    </a:rPr>
                    <a:t>Automation</a:t>
                  </a:r>
                </a:p>
                <a:p>
                  <a:pPr algn="l">
                    <a:lnSpc>
                      <a:spcPts val="1425"/>
                    </a:lnSpc>
                  </a:pPr>
                  <a:r>
                    <a:rPr lang="zh-CN" sz="1120" b="1" dirty="0">
                      <a:solidFill>
                        <a:srgbClr val="1A2433"/>
                      </a:solidFill>
                      <a:latin typeface="+mn-lt"/>
                      <a:ea typeface="+mn-ea"/>
                      <a:cs typeface="+mn-cs"/>
                    </a:rPr>
                    <a:t>自动化</a:t>
                  </a:r>
                </a:p>
              </p:txBody>
            </p:sp>
          </p:grpSp>
          <p:grpSp>
            <p:nvGrpSpPr>
              <p:cNvPr id="25" name="阶段 3.X 智能化（重点）"/>
              <p:cNvGrpSpPr/>
              <p:nvPr/>
            </p:nvGrpSpPr>
            <p:grpSpPr>
              <a:xfrm>
                <a:off x="7219950" y="2362200"/>
                <a:ext cx="2209800" cy="2114550"/>
                <a:chOff x="7219950" y="2362200"/>
                <a:chExt cx="2209800" cy="2114550"/>
              </a:xfrm>
            </p:grpSpPr>
            <p:sp>
              <p:nvSpPr>
                <p:cNvPr id="23" name="色块 3.X"/>
                <p:cNvSpPr/>
                <p:nvPr/>
              </p:nvSpPr>
              <p:spPr>
                <a:xfrm>
                  <a:off x="7219950" y="2362200"/>
                  <a:ext cx="2209800" cy="2114550"/>
                </a:xfrm>
                <a:prstGeom prst="rect">
                  <a:avLst/>
                </a:prstGeom>
                <a:solidFill>
                  <a:srgbClr val="C2410C"/>
                </a:solidFill>
                <a:ln>
                  <a:noFill/>
                </a:ln>
              </p:spPr>
            </p:sp>
            <p:sp>
              <p:nvSpPr>
                <p:cNvPr id="24" name="文字 3.X 智能化"/>
                <p:cNvSpPr txBox="1"/>
                <p:nvPr/>
              </p:nvSpPr>
              <p:spPr>
                <a:xfrm>
                  <a:off x="7570470" y="2603500"/>
                  <a:ext cx="915462" cy="8210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>
                    <a:lnSpc>
                      <a:spcPts val="1425"/>
                    </a:lnSpc>
                  </a:pPr>
                  <a:r>
                    <a:rPr lang="en-US" sz="22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3.X</a:t>
                  </a:r>
                </a:p>
                <a:p>
                  <a:pPr algn="l">
                    <a:lnSpc>
                      <a:spcPts val="1425"/>
                    </a:lnSpc>
                    <a:spcBef>
                      <a:spcPts val="150"/>
                    </a:spcBef>
                  </a:pPr>
                  <a:r>
                    <a:rPr lang="en-US" sz="98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Intelligentization</a:t>
                  </a:r>
                </a:p>
                <a:p>
                  <a:pPr algn="l">
                    <a:lnSpc>
                      <a:spcPts val="1425"/>
                    </a:lnSpc>
                  </a:pPr>
                  <a:r>
                    <a:rPr lang="zh-CN" sz="112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智能化</a:t>
                  </a:r>
                </a:p>
              </p:txBody>
            </p:sp>
          </p:grpSp>
          <p:grpSp>
            <p:nvGrpSpPr>
              <p:cNvPr id="28" name="阶段 4.X（下一阶段）"/>
              <p:cNvGrpSpPr/>
              <p:nvPr/>
            </p:nvGrpSpPr>
            <p:grpSpPr>
              <a:xfrm>
                <a:off x="9467850" y="1962150"/>
                <a:ext cx="2209800" cy="2514600"/>
                <a:chOff x="9467850" y="1962150"/>
                <a:chExt cx="2209800" cy="2514600"/>
              </a:xfrm>
            </p:grpSpPr>
            <p:sp>
              <p:nvSpPr>
                <p:cNvPr id="26" name="色块 4.X"/>
                <p:cNvSpPr/>
                <p:nvPr/>
              </p:nvSpPr>
              <p:spPr>
                <a:xfrm>
                  <a:off x="9467850" y="1962150"/>
                  <a:ext cx="2209800" cy="2514600"/>
                </a:xfrm>
                <a:prstGeom prst="rect">
                  <a:avLst/>
                </a:prstGeom>
                <a:solidFill>
                  <a:srgbClr val="FFF3EC"/>
                </a:solidFill>
                <a:ln w="19050">
                  <a:solidFill>
                    <a:srgbClr val="C2410C"/>
                  </a:solidFill>
                  <a:custDash>
                    <a:ds d="350000" sp="250000"/>
                  </a:custDash>
                </a:ln>
              </p:spPr>
            </p:sp>
            <p:sp>
              <p:nvSpPr>
                <p:cNvPr id="27" name="文字 4.X"/>
                <p:cNvSpPr txBox="1"/>
                <p:nvPr/>
              </p:nvSpPr>
              <p:spPr>
                <a:xfrm>
                  <a:off x="9818370" y="2063750"/>
                  <a:ext cx="503240" cy="44005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250" b="1" dirty="0">
                      <a:solidFill>
                        <a:srgbClr val="C2410C"/>
                      </a:solidFill>
                      <a:latin typeface="+mn-lt"/>
                      <a:ea typeface="+mn-ea"/>
                      <a:cs typeface="+mn-cs"/>
                    </a:rPr>
                    <a:t>4.X</a:t>
                  </a:r>
                </a:p>
              </p:txBody>
            </p:sp>
          </p:grpSp>
        </p:grpSp>
        <p:grpSp>
          <p:nvGrpSpPr>
            <p:cNvPr id="36" name="运作管理模式（阶梯线+标签）"/>
            <p:cNvGrpSpPr/>
            <p:nvPr/>
          </p:nvGrpSpPr>
          <p:grpSpPr>
            <a:xfrm>
              <a:off x="457200" y="1479550"/>
              <a:ext cx="11353800" cy="2035175"/>
              <a:chOff x="457200" y="1479550"/>
              <a:chExt cx="11353800" cy="2035175"/>
            </a:xfrm>
          </p:grpSpPr>
          <p:sp>
            <p:nvSpPr>
              <p:cNvPr id="30" name="阶梯线-运作管理模式"/>
              <p:cNvSpPr/>
              <p:nvPr/>
            </p:nvSpPr>
            <p:spPr>
              <a:xfrm>
                <a:off x="457200" y="1914525"/>
                <a:ext cx="11353800" cy="1600200"/>
              </a:xfrm>
              <a:custGeom>
                <a:avLst/>
                <a:gdLst/>
                <a:ahLst/>
                <a:cxnLst/>
                <a:rect l="l" t="t" r="r" b="b"/>
                <a:pathLst>
                  <a:path w="11353800" h="1600200">
                    <a:moveTo>
                      <a:pt x="0" y="1600200"/>
                    </a:moveTo>
                    <a:lnTo>
                      <a:pt x="2200275" y="1600200"/>
                    </a:lnTo>
                    <a:lnTo>
                      <a:pt x="2200275" y="1200150"/>
                    </a:lnTo>
                    <a:lnTo>
                      <a:pt x="4448175" y="1200150"/>
                    </a:lnTo>
                    <a:lnTo>
                      <a:pt x="4448175" y="800100"/>
                    </a:lnTo>
                    <a:lnTo>
                      <a:pt x="6696075" y="800100"/>
                    </a:lnTo>
                    <a:lnTo>
                      <a:pt x="6696075" y="400050"/>
                    </a:lnTo>
                    <a:lnTo>
                      <a:pt x="8943975" y="400050"/>
                    </a:lnTo>
                    <a:lnTo>
                      <a:pt x="8943975" y="0"/>
                    </a:lnTo>
                    <a:lnTo>
                      <a:pt x="11353800" y="0"/>
                    </a:lnTo>
                  </a:path>
                </a:pathLst>
              </a:custGeom>
              <a:noFill/>
              <a:ln w="23812">
                <a:solidFill>
                  <a:srgbClr val="24599E"/>
                </a:solidFill>
                <a:tailEnd type="triangle" w="lg" len="lg"/>
              </a:ln>
            </p:spPr>
          </p:sp>
          <p:sp>
            <p:nvSpPr>
              <p:cNvPr id="31" name="管理模式 0.X 基于经验型"/>
              <p:cNvSpPr txBox="1"/>
              <p:nvPr/>
            </p:nvSpPr>
            <p:spPr>
              <a:xfrm>
                <a:off x="833247" y="3079750"/>
                <a:ext cx="812499" cy="399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425"/>
                  </a:lnSpc>
                </a:pPr>
                <a:r>
                  <a:rPr lang="en-US" sz="980" dirty="0">
                    <a:solidFill>
                      <a:srgbClr val="24599E"/>
                    </a:solidFill>
                    <a:latin typeface="+mn-lt"/>
                    <a:ea typeface="+mn-ea"/>
                    <a:cs typeface="+mn-cs"/>
                  </a:rPr>
                  <a:t>Man-managed</a:t>
                </a:r>
              </a:p>
              <a:p>
                <a:pPr algn="l">
                  <a:lnSpc>
                    <a:spcPts val="1425"/>
                  </a:lnSpc>
                </a:pPr>
                <a:r>
                  <a:rPr lang="zh-CN" sz="1120" b="1" dirty="0">
                    <a:solidFill>
                      <a:srgbClr val="24599E"/>
                    </a:solidFill>
                    <a:latin typeface="+mn-lt"/>
                    <a:ea typeface="+mn-ea"/>
                    <a:cs typeface="+mn-cs"/>
                  </a:rPr>
                  <a:t>基于经验型</a:t>
                </a:r>
              </a:p>
            </p:txBody>
          </p:sp>
          <p:sp>
            <p:nvSpPr>
              <p:cNvPr id="32" name="管理模式 1.X 基于产能型"/>
              <p:cNvSpPr txBox="1"/>
              <p:nvPr/>
            </p:nvSpPr>
            <p:spPr>
              <a:xfrm>
                <a:off x="3081147" y="2679700"/>
                <a:ext cx="874729" cy="399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425"/>
                  </a:lnSpc>
                </a:pPr>
                <a:r>
                  <a:rPr lang="en-US" sz="980" dirty="0">
                    <a:solidFill>
                      <a:srgbClr val="24599E"/>
                    </a:solidFill>
                    <a:latin typeface="+mn-lt"/>
                    <a:ea typeface="+mn-ea"/>
                    <a:cs typeface="+mn-cs"/>
                  </a:rPr>
                  <a:t>Capacity-based</a:t>
                </a:r>
              </a:p>
              <a:p>
                <a:pPr algn="l">
                  <a:lnSpc>
                    <a:spcPts val="1425"/>
                  </a:lnSpc>
                </a:pPr>
                <a:r>
                  <a:rPr lang="zh-CN" sz="1120" b="1" dirty="0">
                    <a:solidFill>
                      <a:srgbClr val="24599E"/>
                    </a:solidFill>
                    <a:latin typeface="+mn-lt"/>
                    <a:ea typeface="+mn-ea"/>
                    <a:cs typeface="+mn-cs"/>
                  </a:rPr>
                  <a:t>基于产能型</a:t>
                </a:r>
              </a:p>
            </p:txBody>
          </p:sp>
          <p:sp>
            <p:nvSpPr>
              <p:cNvPr id="33" name="管理模式 2.X 基于计划型"/>
              <p:cNvSpPr txBox="1"/>
              <p:nvPr/>
            </p:nvSpPr>
            <p:spPr>
              <a:xfrm>
                <a:off x="5329047" y="2279650"/>
                <a:ext cx="721106" cy="399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425"/>
                  </a:lnSpc>
                </a:pPr>
                <a:r>
                  <a:rPr lang="en-US" sz="980" dirty="0">
                    <a:solidFill>
                      <a:srgbClr val="24599E"/>
                    </a:solidFill>
                    <a:latin typeface="+mn-lt"/>
                    <a:ea typeface="+mn-ea"/>
                    <a:cs typeface="+mn-cs"/>
                  </a:rPr>
                  <a:t>Plan-based</a:t>
                </a:r>
              </a:p>
              <a:p>
                <a:pPr algn="l">
                  <a:lnSpc>
                    <a:spcPts val="1425"/>
                  </a:lnSpc>
                </a:pPr>
                <a:r>
                  <a:rPr lang="zh-CN" sz="1120" b="1" dirty="0">
                    <a:solidFill>
                      <a:srgbClr val="24599E"/>
                    </a:solidFill>
                    <a:latin typeface="+mn-lt"/>
                    <a:ea typeface="+mn-ea"/>
                    <a:cs typeface="+mn-cs"/>
                  </a:rPr>
                  <a:t>基于计划型</a:t>
                </a:r>
              </a:p>
            </p:txBody>
          </p:sp>
          <p:sp>
            <p:nvSpPr>
              <p:cNvPr id="34" name="管理模式 3.X 客户驱动型"/>
              <p:cNvSpPr txBox="1"/>
              <p:nvPr/>
            </p:nvSpPr>
            <p:spPr>
              <a:xfrm>
                <a:off x="7576947" y="1879600"/>
                <a:ext cx="929840" cy="399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425"/>
                  </a:lnSpc>
                </a:pPr>
                <a:r>
                  <a:rPr lang="en-US" sz="980" dirty="0">
                    <a:solidFill>
                      <a:srgbClr val="24599E"/>
                    </a:solidFill>
                    <a:latin typeface="+mn-lt"/>
                    <a:ea typeface="+mn-ea"/>
                    <a:cs typeface="+mn-cs"/>
                  </a:rPr>
                  <a:t>Customer-driven</a:t>
                </a:r>
              </a:p>
              <a:p>
                <a:pPr algn="l">
                  <a:lnSpc>
                    <a:spcPts val="1425"/>
                  </a:lnSpc>
                </a:pPr>
                <a:r>
                  <a:rPr lang="zh-CN" sz="1120" b="1" dirty="0">
                    <a:solidFill>
                      <a:srgbClr val="24599E"/>
                    </a:solidFill>
                    <a:latin typeface="+mn-lt"/>
                    <a:ea typeface="+mn-ea"/>
                    <a:cs typeface="+mn-cs"/>
                  </a:rPr>
                  <a:t>客户驱动型</a:t>
                </a:r>
              </a:p>
            </p:txBody>
          </p:sp>
          <p:sp>
            <p:nvSpPr>
              <p:cNvPr id="35" name="管理模式 4.X 环境适应型"/>
              <p:cNvSpPr txBox="1"/>
              <p:nvPr/>
            </p:nvSpPr>
            <p:spPr>
              <a:xfrm>
                <a:off x="9824847" y="1479550"/>
                <a:ext cx="1199993" cy="399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425"/>
                  </a:lnSpc>
                </a:pPr>
                <a:r>
                  <a:rPr lang="en-US" sz="980" dirty="0">
                    <a:solidFill>
                      <a:srgbClr val="24599E"/>
                    </a:solidFill>
                    <a:latin typeface="+mn-lt"/>
                    <a:ea typeface="+mn-ea"/>
                    <a:cs typeface="+mn-cs"/>
                  </a:rPr>
                  <a:t>Environment-adapted</a:t>
                </a:r>
              </a:p>
              <a:p>
                <a:pPr algn="l">
                  <a:lnSpc>
                    <a:spcPts val="1425"/>
                  </a:lnSpc>
                </a:pPr>
                <a:r>
                  <a:rPr lang="zh-CN" sz="1120" b="1" dirty="0">
                    <a:solidFill>
                      <a:srgbClr val="24599E"/>
                    </a:solidFill>
                    <a:latin typeface="+mn-lt"/>
                    <a:ea typeface="+mn-ea"/>
                    <a:cs typeface="+mn-cs"/>
                  </a:rPr>
                  <a:t>环境适应型</a:t>
                </a:r>
              </a:p>
            </p:txBody>
          </p:sp>
        </p:grpSp>
        <p:grpSp>
          <p:nvGrpSpPr>
            <p:cNvPr id="43" name="系统组织结构（基线+标签）"/>
            <p:cNvGrpSpPr/>
            <p:nvPr/>
          </p:nvGrpSpPr>
          <p:grpSpPr>
            <a:xfrm>
              <a:off x="457200" y="4572000"/>
              <a:ext cx="11353800" cy="488188"/>
              <a:chOff x="457200" y="4572000"/>
              <a:chExt cx="11353800" cy="488188"/>
            </a:xfrm>
          </p:grpSpPr>
          <p:sp>
            <p:nvSpPr>
              <p:cNvPr id="37" name="基线箭头-系统组织结构"/>
              <p:cNvSpPr/>
              <p:nvPr/>
            </p:nvSpPr>
            <p:spPr>
              <a:xfrm>
                <a:off x="457200" y="4572000"/>
                <a:ext cx="11353800" cy="1"/>
              </a:xfrm>
              <a:prstGeom prst="line">
                <a:avLst/>
              </a:prstGeom>
              <a:noFill/>
              <a:ln w="23812">
                <a:solidFill>
                  <a:srgbClr val="0F766E"/>
                </a:solidFill>
                <a:tailEnd type="triangle" w="lg" len="lg"/>
              </a:ln>
            </p:spPr>
          </p:sp>
          <p:sp>
            <p:nvSpPr>
              <p:cNvPr id="38" name="系统结构 0.X 功能化机器"/>
              <p:cNvSpPr txBox="1"/>
              <p:nvPr/>
            </p:nvSpPr>
            <p:spPr>
              <a:xfrm>
                <a:off x="833247" y="4660900"/>
                <a:ext cx="1379763" cy="399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425"/>
                  </a:lnSpc>
                </a:pPr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Functionalized Machines</a:t>
                </a:r>
              </a:p>
              <a:p>
                <a:pPr algn="l">
                  <a:lnSpc>
                    <a:spcPts val="1425"/>
                  </a:lnSpc>
                </a:pPr>
                <a:r>
                  <a:rPr lang="zh-CN" sz="112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功能化机器</a:t>
                </a:r>
              </a:p>
            </p:txBody>
          </p:sp>
          <p:sp>
            <p:nvSpPr>
              <p:cNvPr id="39" name="系统结构 1.X 流水化产线"/>
              <p:cNvSpPr txBox="1"/>
              <p:nvPr/>
            </p:nvSpPr>
            <p:spPr>
              <a:xfrm>
                <a:off x="3081147" y="4660900"/>
                <a:ext cx="1234443" cy="399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425"/>
                  </a:lnSpc>
                </a:pPr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Flow Production Lines</a:t>
                </a:r>
              </a:p>
              <a:p>
                <a:pPr algn="l">
                  <a:lnSpc>
                    <a:spcPts val="1425"/>
                  </a:lnSpc>
                </a:pPr>
                <a:r>
                  <a:rPr lang="zh-CN" sz="112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流水化产线</a:t>
                </a:r>
              </a:p>
            </p:txBody>
          </p:sp>
          <p:sp>
            <p:nvSpPr>
              <p:cNvPr id="40" name="系统结构 2.X 自动化单元"/>
              <p:cNvSpPr txBox="1"/>
              <p:nvPr/>
            </p:nvSpPr>
            <p:spPr>
              <a:xfrm>
                <a:off x="5329047" y="4660900"/>
                <a:ext cx="1552712" cy="399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425"/>
                  </a:lnSpc>
                </a:pPr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Automated Production Cells</a:t>
                </a:r>
              </a:p>
              <a:p>
                <a:pPr algn="l">
                  <a:lnSpc>
                    <a:spcPts val="1425"/>
                  </a:lnSpc>
                </a:pPr>
                <a:r>
                  <a:rPr lang="zh-CN" sz="112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自动化单元</a:t>
                </a:r>
              </a:p>
            </p:txBody>
          </p:sp>
          <p:sp>
            <p:nvSpPr>
              <p:cNvPr id="41" name="系统结构 3.X 柔性化系统"/>
              <p:cNvSpPr txBox="1"/>
              <p:nvPr/>
            </p:nvSpPr>
            <p:spPr>
              <a:xfrm>
                <a:off x="7576947" y="4660900"/>
                <a:ext cx="1517938" cy="399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425"/>
                  </a:lnSpc>
                </a:pPr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Flexible Production System</a:t>
                </a:r>
              </a:p>
              <a:p>
                <a:pPr algn="l">
                  <a:lnSpc>
                    <a:spcPts val="1425"/>
                  </a:lnSpc>
                </a:pPr>
                <a:r>
                  <a:rPr lang="zh-CN" sz="112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柔性化系统</a:t>
                </a:r>
              </a:p>
            </p:txBody>
          </p:sp>
          <p:sp>
            <p:nvSpPr>
              <p:cNvPr id="42" name="系统结构 4.X 演进化系统"/>
              <p:cNvSpPr txBox="1"/>
              <p:nvPr/>
            </p:nvSpPr>
            <p:spPr>
              <a:xfrm>
                <a:off x="9824847" y="4660900"/>
                <a:ext cx="1628732" cy="399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425"/>
                  </a:lnSpc>
                </a:pPr>
                <a:r>
                  <a:rPr lang="en-US" sz="980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Evolvable Production System</a:t>
                </a:r>
              </a:p>
              <a:p>
                <a:pPr algn="l">
                  <a:lnSpc>
                    <a:spcPts val="1425"/>
                  </a:lnSpc>
                </a:pPr>
                <a:r>
                  <a:rPr lang="zh-CN" sz="1120" b="1" dirty="0">
                    <a:solidFill>
                      <a:srgbClr val="0F766E"/>
                    </a:solidFill>
                    <a:latin typeface="+mn-lt"/>
                    <a:ea typeface="+mn-ea"/>
                    <a:cs typeface="+mn-cs"/>
                  </a:rPr>
                  <a:t>演进化系统</a:t>
                </a:r>
              </a:p>
            </p:txBody>
          </p:sp>
        </p:grpSp>
        <p:grpSp>
          <p:nvGrpSpPr>
            <p:cNvPr id="80" name="四次工业革命（节点+产品）"/>
            <p:cNvGrpSpPr/>
            <p:nvPr/>
          </p:nvGrpSpPr>
          <p:grpSpPr>
            <a:xfrm>
              <a:off x="1924050" y="695325"/>
              <a:ext cx="8305800" cy="4486275"/>
              <a:chOff x="1924050" y="695325"/>
              <a:chExt cx="8305800" cy="4486275"/>
            </a:xfrm>
          </p:grpSpPr>
          <p:grpSp>
            <p:nvGrpSpPr>
              <p:cNvPr id="52" name="Industry 1.0（节点+产品）"/>
              <p:cNvGrpSpPr/>
              <p:nvPr/>
            </p:nvGrpSpPr>
            <p:grpSpPr>
              <a:xfrm>
                <a:off x="1924050" y="1895475"/>
                <a:ext cx="1562100" cy="3286125"/>
                <a:chOff x="1924050" y="1895475"/>
                <a:chExt cx="1562100" cy="3286125"/>
              </a:xfrm>
            </p:grpSpPr>
            <p:sp>
              <p:nvSpPr>
                <p:cNvPr id="44" name="箭头 Industry 1.0→产品"/>
                <p:cNvSpPr/>
                <p:nvPr/>
              </p:nvSpPr>
              <p:spPr>
                <a:xfrm flipV="1">
                  <a:off x="2705100" y="2647950"/>
                  <a:ext cx="1" cy="171450"/>
                </a:xfrm>
                <a:prstGeom prst="line">
                  <a:avLst/>
                </a:prstGeom>
                <a:noFill/>
                <a:ln w="14288">
                  <a:solidFill>
                    <a:srgbClr val="8C97A6"/>
                  </a:solidFill>
                  <a:tailEnd type="triangle" w="lg" len="lg"/>
                </a:ln>
              </p:spPr>
            </p:sp>
            <p:sp>
              <p:nvSpPr>
                <p:cNvPr id="45" name="产品卡底板 1.0"/>
                <p:cNvSpPr/>
                <p:nvPr/>
              </p:nvSpPr>
              <p:spPr>
                <a:xfrm>
                  <a:off x="1924050" y="1895475"/>
                  <a:ext cx="1562100" cy="742950"/>
                </a:xfrm>
                <a:prstGeom prst="rect">
                  <a:avLst/>
                </a:prstGeom>
                <a:solidFill>
                  <a:srgbClr val="F2F4F7"/>
                </a:solidFill>
                <a:ln>
                  <a:noFill/>
                </a:ln>
              </p:spPr>
            </p:sp>
            <p:sp>
              <p:nvSpPr>
                <p:cNvPr id="46" name="产品公式 1.0"/>
                <p:cNvSpPr txBox="1"/>
                <p:nvPr/>
              </p:nvSpPr>
              <p:spPr>
                <a:xfrm>
                  <a:off x="2461774" y="1978025"/>
                  <a:ext cx="48665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C2410C"/>
                      </a:solidFill>
                      <a:latin typeface="+mj-lt"/>
                      <a:ea typeface="+mj-ea"/>
                      <a:cs typeface="+mj-cs"/>
                    </a:rPr>
                    <a:t>0 → 1</a:t>
                  </a:r>
                </a:p>
              </p:txBody>
            </p:sp>
            <p:sp>
              <p:nvSpPr>
                <p:cNvPr id="47" name="产品文字 1.0 基础性产品"/>
                <p:cNvSpPr txBox="1"/>
                <p:nvPr/>
              </p:nvSpPr>
              <p:spPr>
                <a:xfrm>
                  <a:off x="2291993" y="2203450"/>
                  <a:ext cx="826214" cy="4088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>
                    <a:lnSpc>
                      <a:spcPts val="1500"/>
                    </a:lnSpc>
                  </a:pPr>
                  <a:r>
                    <a:rPr lang="en-US" sz="980" dirty="0">
                      <a:solidFill>
                        <a:srgbClr val="5C6878"/>
                      </a:solidFill>
                      <a:latin typeface="+mn-lt"/>
                      <a:ea typeface="+mn-ea"/>
                      <a:cs typeface="+mn-cs"/>
                    </a:rPr>
                    <a:t>Basic products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zh-CN" sz="1120" b="1" dirty="0">
                      <a:solidFill>
                        <a:srgbClr val="1A2433"/>
                      </a:solidFill>
                      <a:latin typeface="+mn-lt"/>
                      <a:ea typeface="+mn-ea"/>
                      <a:cs typeface="+mn-cs"/>
                    </a:rPr>
                    <a:t>基础性产品</a:t>
                  </a:r>
                </a:p>
              </p:txBody>
            </p:sp>
            <p:sp>
              <p:nvSpPr>
                <p:cNvPr id="48" name="节点圆 Industry 1.0"/>
                <p:cNvSpPr/>
                <p:nvPr/>
              </p:nvSpPr>
              <p:spPr>
                <a:xfrm>
                  <a:off x="2400300" y="2857500"/>
                  <a:ext cx="609600" cy="609600"/>
                </a:xfrm>
                <a:prstGeom prst="ellipse">
                  <a:avLst/>
                </a:prstGeom>
                <a:solidFill>
                  <a:srgbClr val="1A2433"/>
                </a:solidFill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49" name="节点文字 Industry 1.0"/>
                <p:cNvSpPr txBox="1"/>
                <p:nvPr/>
              </p:nvSpPr>
              <p:spPr>
                <a:xfrm>
                  <a:off x="2497044" y="2962275"/>
                  <a:ext cx="416113" cy="4905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>
                    <a:lnSpc>
                      <a:spcPts val="1575"/>
                    </a:lnSpc>
                  </a:pPr>
                  <a:r>
                    <a:rPr lang="en-US" sz="9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Industry</a:t>
                  </a:r>
                </a:p>
                <a:p>
                  <a:pPr algn="ctr">
                    <a:lnSpc>
                      <a:spcPts val="1575"/>
                    </a:lnSpc>
                  </a:pPr>
                  <a:r>
                    <a:rPr lang="zh-CN" sz="15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1.0</a:t>
                  </a:r>
                </a:p>
              </p:txBody>
            </p:sp>
            <p:sp>
              <p:nvSpPr>
                <p:cNvPr id="50" name="基线刻度点 1.0"/>
                <p:cNvSpPr/>
                <p:nvPr/>
              </p:nvSpPr>
              <p:spPr>
                <a:xfrm>
                  <a:off x="2662238" y="4529138"/>
                  <a:ext cx="85725" cy="85725"/>
                </a:xfrm>
                <a:prstGeom prst="ellipse">
                  <a:avLst/>
                </a:prstGeom>
                <a:solidFill>
                  <a:srgbClr val="1A2433"/>
                </a:solidFill>
                <a:ln>
                  <a:noFill/>
                </a:ln>
              </p:spPr>
            </p:sp>
            <p:sp>
              <p:nvSpPr>
                <p:cNvPr id="51" name="虚线 Industry 1.0→案例照片"/>
                <p:cNvSpPr/>
                <p:nvPr/>
              </p:nvSpPr>
              <p:spPr>
                <a:xfrm>
                  <a:off x="2705100" y="4629150"/>
                  <a:ext cx="9525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52450">
                      <a:moveTo>
                        <a:pt x="0" y="0"/>
                      </a:moveTo>
                      <a:lnTo>
                        <a:pt x="0" y="552450"/>
                      </a:lnTo>
                    </a:path>
                  </a:pathLst>
                </a:custGeom>
                <a:noFill/>
                <a:ln w="9525">
                  <a:solidFill>
                    <a:srgbClr val="9AA5B4"/>
                  </a:solidFill>
                  <a:custDash>
                    <a:ds d="300000" sp="300000"/>
                  </a:custDash>
                </a:ln>
              </p:spPr>
            </p:sp>
          </p:grpSp>
          <p:grpSp>
            <p:nvGrpSpPr>
              <p:cNvPr id="61" name="Industry 2.0（节点+产品）"/>
              <p:cNvGrpSpPr/>
              <p:nvPr/>
            </p:nvGrpSpPr>
            <p:grpSpPr>
              <a:xfrm>
                <a:off x="4171950" y="1495425"/>
                <a:ext cx="1562100" cy="3686175"/>
                <a:chOff x="4171950" y="1495425"/>
                <a:chExt cx="1562100" cy="3686175"/>
              </a:xfrm>
            </p:grpSpPr>
            <p:sp>
              <p:nvSpPr>
                <p:cNvPr id="53" name="箭头 Industry 2.0→产品"/>
                <p:cNvSpPr/>
                <p:nvPr/>
              </p:nvSpPr>
              <p:spPr>
                <a:xfrm flipV="1">
                  <a:off x="4953000" y="2247900"/>
                  <a:ext cx="1" cy="171450"/>
                </a:xfrm>
                <a:prstGeom prst="line">
                  <a:avLst/>
                </a:prstGeom>
                <a:noFill/>
                <a:ln w="14288">
                  <a:solidFill>
                    <a:srgbClr val="8C97A6"/>
                  </a:solidFill>
                  <a:tailEnd type="triangle" w="lg" len="lg"/>
                </a:ln>
              </p:spPr>
            </p:sp>
            <p:sp>
              <p:nvSpPr>
                <p:cNvPr id="54" name="产品卡底板 2.0"/>
                <p:cNvSpPr/>
                <p:nvPr/>
              </p:nvSpPr>
              <p:spPr>
                <a:xfrm>
                  <a:off x="4171950" y="1495425"/>
                  <a:ext cx="1562100" cy="742950"/>
                </a:xfrm>
                <a:prstGeom prst="rect">
                  <a:avLst/>
                </a:prstGeom>
                <a:solidFill>
                  <a:srgbClr val="F2F4F7"/>
                </a:solidFill>
                <a:ln>
                  <a:noFill/>
                </a:ln>
              </p:spPr>
            </p:sp>
            <p:sp>
              <p:nvSpPr>
                <p:cNvPr id="55" name="产品公式 2.0"/>
                <p:cNvSpPr txBox="1"/>
                <p:nvPr/>
              </p:nvSpPr>
              <p:spPr>
                <a:xfrm>
                  <a:off x="4698234" y="1577975"/>
                  <a:ext cx="50953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C2410C"/>
                      </a:solidFill>
                      <a:latin typeface="+mj-lt"/>
                      <a:ea typeface="+mj-ea"/>
                      <a:cs typeface="+mj-cs"/>
                    </a:rPr>
                    <a:t xml:space="preserve">1 → </a:t>
                  </a:r>
                  <a:r>
                    <a:rPr lang="en-US" sz="1350" b="1" i="1" dirty="0">
                      <a:solidFill>
                        <a:srgbClr val="C2410C"/>
                      </a:solidFill>
                      <a:latin typeface="+mj-lt"/>
                      <a:ea typeface="+mj-ea"/>
                      <a:cs typeface="+mj-cs"/>
                    </a:rPr>
                    <a:t>X</a:t>
                  </a:r>
                </a:p>
              </p:txBody>
            </p:sp>
            <p:sp>
              <p:nvSpPr>
                <p:cNvPr id="56" name="产品文字 2.0 标准化产品"/>
                <p:cNvSpPr txBox="1"/>
                <p:nvPr/>
              </p:nvSpPr>
              <p:spPr>
                <a:xfrm>
                  <a:off x="4325324" y="1803400"/>
                  <a:ext cx="1255352" cy="4088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>
                    <a:lnSpc>
                      <a:spcPts val="1500"/>
                    </a:lnSpc>
                  </a:pPr>
                  <a:r>
                    <a:rPr lang="en-US" sz="980" dirty="0">
                      <a:solidFill>
                        <a:srgbClr val="5C6878"/>
                      </a:solidFill>
                      <a:latin typeface="+mn-lt"/>
                      <a:ea typeface="+mn-ea"/>
                      <a:cs typeface="+mn-cs"/>
                    </a:rPr>
                    <a:t>Standardized products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zh-CN" sz="1120" b="1" dirty="0">
                      <a:solidFill>
                        <a:srgbClr val="1A2433"/>
                      </a:solidFill>
                      <a:latin typeface="+mn-lt"/>
                      <a:ea typeface="+mn-ea"/>
                      <a:cs typeface="+mn-cs"/>
                    </a:rPr>
                    <a:t>标准化产品</a:t>
                  </a:r>
                </a:p>
              </p:txBody>
            </p:sp>
            <p:sp>
              <p:nvSpPr>
                <p:cNvPr id="57" name="节点圆 Industry 2.0"/>
                <p:cNvSpPr/>
                <p:nvPr/>
              </p:nvSpPr>
              <p:spPr>
                <a:xfrm>
                  <a:off x="4648200" y="2457450"/>
                  <a:ext cx="609600" cy="609600"/>
                </a:xfrm>
                <a:prstGeom prst="ellipse">
                  <a:avLst/>
                </a:prstGeom>
                <a:solidFill>
                  <a:srgbClr val="1A2433"/>
                </a:solidFill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58" name="节点文字 Industry 2.0"/>
                <p:cNvSpPr txBox="1"/>
                <p:nvPr/>
              </p:nvSpPr>
              <p:spPr>
                <a:xfrm>
                  <a:off x="4744944" y="2562225"/>
                  <a:ext cx="416113" cy="4905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>
                    <a:lnSpc>
                      <a:spcPts val="1575"/>
                    </a:lnSpc>
                  </a:pPr>
                  <a:r>
                    <a:rPr lang="en-US" sz="9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Industry</a:t>
                  </a:r>
                </a:p>
                <a:p>
                  <a:pPr algn="ctr">
                    <a:lnSpc>
                      <a:spcPts val="1575"/>
                    </a:lnSpc>
                  </a:pPr>
                  <a:r>
                    <a:rPr lang="zh-CN" sz="15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2.0</a:t>
                  </a:r>
                </a:p>
              </p:txBody>
            </p:sp>
            <p:sp>
              <p:nvSpPr>
                <p:cNvPr id="59" name="基线刻度点 2.0"/>
                <p:cNvSpPr/>
                <p:nvPr/>
              </p:nvSpPr>
              <p:spPr>
                <a:xfrm>
                  <a:off x="4910138" y="4529138"/>
                  <a:ext cx="85725" cy="85725"/>
                </a:xfrm>
                <a:prstGeom prst="ellipse">
                  <a:avLst/>
                </a:prstGeom>
                <a:solidFill>
                  <a:srgbClr val="1A2433"/>
                </a:solidFill>
                <a:ln>
                  <a:noFill/>
                </a:ln>
              </p:spPr>
            </p:sp>
            <p:sp>
              <p:nvSpPr>
                <p:cNvPr id="60" name="虚线 Industry 2.0→案例照片"/>
                <p:cNvSpPr/>
                <p:nvPr/>
              </p:nvSpPr>
              <p:spPr>
                <a:xfrm>
                  <a:off x="4953000" y="4629150"/>
                  <a:ext cx="9525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52450">
                      <a:moveTo>
                        <a:pt x="0" y="0"/>
                      </a:moveTo>
                      <a:lnTo>
                        <a:pt x="0" y="552450"/>
                      </a:lnTo>
                    </a:path>
                  </a:pathLst>
                </a:custGeom>
                <a:noFill/>
                <a:ln w="9525">
                  <a:solidFill>
                    <a:srgbClr val="9AA5B4"/>
                  </a:solidFill>
                  <a:custDash>
                    <a:ds d="300000" sp="300000"/>
                  </a:custDash>
                </a:ln>
              </p:spPr>
            </p:sp>
          </p:grpSp>
          <p:grpSp>
            <p:nvGrpSpPr>
              <p:cNvPr id="70" name="Industry 3.0（节点+产品）"/>
              <p:cNvGrpSpPr/>
              <p:nvPr/>
            </p:nvGrpSpPr>
            <p:grpSpPr>
              <a:xfrm>
                <a:off x="6419850" y="1095375"/>
                <a:ext cx="1562100" cy="4086225"/>
                <a:chOff x="6419850" y="1095375"/>
                <a:chExt cx="1562100" cy="4086225"/>
              </a:xfrm>
            </p:grpSpPr>
            <p:sp>
              <p:nvSpPr>
                <p:cNvPr id="62" name="箭头 Industry 3.0→产品"/>
                <p:cNvSpPr/>
                <p:nvPr/>
              </p:nvSpPr>
              <p:spPr>
                <a:xfrm flipV="1">
                  <a:off x="7200900" y="1847850"/>
                  <a:ext cx="1" cy="171450"/>
                </a:xfrm>
                <a:prstGeom prst="line">
                  <a:avLst/>
                </a:prstGeom>
                <a:noFill/>
                <a:ln w="14288">
                  <a:solidFill>
                    <a:srgbClr val="8C97A6"/>
                  </a:solidFill>
                  <a:tailEnd type="triangle" w="lg" len="lg"/>
                </a:ln>
              </p:spPr>
            </p:sp>
            <p:sp>
              <p:nvSpPr>
                <p:cNvPr id="63" name="产品卡底板 3.0"/>
                <p:cNvSpPr/>
                <p:nvPr/>
              </p:nvSpPr>
              <p:spPr>
                <a:xfrm>
                  <a:off x="6419850" y="1095375"/>
                  <a:ext cx="1562100" cy="742950"/>
                </a:xfrm>
                <a:prstGeom prst="rect">
                  <a:avLst/>
                </a:prstGeom>
                <a:solidFill>
                  <a:srgbClr val="F2F4F7"/>
                </a:solidFill>
                <a:ln>
                  <a:noFill/>
                </a:ln>
              </p:spPr>
            </p:sp>
            <p:sp>
              <p:nvSpPr>
                <p:cNvPr id="64" name="产品公式 3.0"/>
                <p:cNvSpPr txBox="1"/>
                <p:nvPr/>
              </p:nvSpPr>
              <p:spPr>
                <a:xfrm>
                  <a:off x="6830281" y="1197292"/>
                  <a:ext cx="741237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i="1" dirty="0">
                      <a:solidFill>
                        <a:srgbClr val="C2410C"/>
                      </a:solidFill>
                      <a:latin typeface="+mj-lt"/>
                      <a:ea typeface="+mj-ea"/>
                      <a:cs typeface="+mj-cs"/>
                    </a:rPr>
                    <a:t>X</a:t>
                  </a:r>
                  <a:r>
                    <a:rPr lang="zh-CN" sz="1350" b="1" dirty="0">
                      <a:solidFill>
                        <a:srgbClr val="C2410C"/>
                      </a:solidFill>
                      <a:latin typeface="+mj-lt"/>
                      <a:ea typeface="+mj-ea"/>
                      <a:cs typeface="+mj-cs"/>
                    </a:rPr>
                    <a:t xml:space="preserve"> → {</a:t>
                  </a:r>
                  <a:r>
                    <a:rPr lang="en-US" sz="1350" b="1" i="1" dirty="0">
                      <a:solidFill>
                        <a:srgbClr val="C2410C"/>
                      </a:solidFill>
                      <a:latin typeface="+mj-lt"/>
                      <a:ea typeface="+mj-ea"/>
                      <a:cs typeface="+mj-cs"/>
                    </a:rPr>
                    <a:t>X</a:t>
                  </a:r>
                  <a:r>
                    <a:rPr lang="en-US" sz="1350" b="1" i="1" baseline="-25000" dirty="0">
                      <a:solidFill>
                        <a:srgbClr val="C2410C"/>
                      </a:solidFill>
                      <a:latin typeface="+mj-lt"/>
                      <a:ea typeface="+mj-ea"/>
                      <a:cs typeface="+mj-cs"/>
                    </a:rPr>
                    <a:t>i</a:t>
                  </a:r>
                  <a:r>
                    <a:rPr lang="zh-CN" sz="1350" b="1" dirty="0">
                      <a:solidFill>
                        <a:srgbClr val="C2410C"/>
                      </a:solidFill>
                      <a:latin typeface="+mj-lt"/>
                      <a:ea typeface="+mj-ea"/>
                      <a:cs typeface="+mj-cs"/>
                    </a:rPr>
                    <a:t>}</a:t>
                  </a:r>
                </a:p>
              </p:txBody>
            </p:sp>
            <p:sp>
              <p:nvSpPr>
                <p:cNvPr id="65" name="产品文字 3.0 多样化产品"/>
                <p:cNvSpPr txBox="1"/>
                <p:nvPr/>
              </p:nvSpPr>
              <p:spPr>
                <a:xfrm>
                  <a:off x="6780898" y="1403350"/>
                  <a:ext cx="840004" cy="4088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>
                    <a:lnSpc>
                      <a:spcPts val="1500"/>
                    </a:lnSpc>
                  </a:pPr>
                  <a:r>
                    <a:rPr lang="en-US" sz="980" dirty="0">
                      <a:solidFill>
                        <a:srgbClr val="5C6878"/>
                      </a:solidFill>
                      <a:latin typeface="+mn-lt"/>
                      <a:ea typeface="+mn-ea"/>
                      <a:cs typeface="+mn-cs"/>
                    </a:rPr>
                    <a:t>Product variety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zh-CN" sz="1120" b="1" dirty="0">
                      <a:solidFill>
                        <a:srgbClr val="1A2433"/>
                      </a:solidFill>
                      <a:latin typeface="+mn-lt"/>
                      <a:ea typeface="+mn-ea"/>
                      <a:cs typeface="+mn-cs"/>
                    </a:rPr>
                    <a:t>多样化产品</a:t>
                  </a:r>
                </a:p>
              </p:txBody>
            </p:sp>
            <p:sp>
              <p:nvSpPr>
                <p:cNvPr id="66" name="节点圆 Industry 3.0"/>
                <p:cNvSpPr/>
                <p:nvPr/>
              </p:nvSpPr>
              <p:spPr>
                <a:xfrm>
                  <a:off x="6896100" y="2057400"/>
                  <a:ext cx="609600" cy="609600"/>
                </a:xfrm>
                <a:prstGeom prst="ellipse">
                  <a:avLst/>
                </a:prstGeom>
                <a:solidFill>
                  <a:srgbClr val="1A2433"/>
                </a:solidFill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67" name="节点文字 Industry 3.0"/>
                <p:cNvSpPr txBox="1"/>
                <p:nvPr/>
              </p:nvSpPr>
              <p:spPr>
                <a:xfrm>
                  <a:off x="6992844" y="2162175"/>
                  <a:ext cx="416113" cy="4905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>
                    <a:lnSpc>
                      <a:spcPts val="1575"/>
                    </a:lnSpc>
                  </a:pPr>
                  <a:r>
                    <a:rPr lang="en-US" sz="9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Industry</a:t>
                  </a:r>
                </a:p>
                <a:p>
                  <a:pPr algn="ctr">
                    <a:lnSpc>
                      <a:spcPts val="1575"/>
                    </a:lnSpc>
                  </a:pPr>
                  <a:r>
                    <a:rPr lang="zh-CN" sz="15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3.0</a:t>
                  </a:r>
                </a:p>
              </p:txBody>
            </p:sp>
            <p:sp>
              <p:nvSpPr>
                <p:cNvPr id="68" name="基线刻度点 3.0"/>
                <p:cNvSpPr/>
                <p:nvPr/>
              </p:nvSpPr>
              <p:spPr>
                <a:xfrm>
                  <a:off x="7158038" y="4529138"/>
                  <a:ext cx="85725" cy="85725"/>
                </a:xfrm>
                <a:prstGeom prst="ellipse">
                  <a:avLst/>
                </a:prstGeom>
                <a:solidFill>
                  <a:srgbClr val="1A2433"/>
                </a:solidFill>
                <a:ln>
                  <a:noFill/>
                </a:ln>
              </p:spPr>
            </p:sp>
            <p:sp>
              <p:nvSpPr>
                <p:cNvPr id="69" name="虚线 Industry 3.0→案例照片"/>
                <p:cNvSpPr/>
                <p:nvPr/>
              </p:nvSpPr>
              <p:spPr>
                <a:xfrm>
                  <a:off x="7200900" y="4629150"/>
                  <a:ext cx="9525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52450">
                      <a:moveTo>
                        <a:pt x="0" y="0"/>
                      </a:moveTo>
                      <a:lnTo>
                        <a:pt x="0" y="552450"/>
                      </a:lnTo>
                    </a:path>
                  </a:pathLst>
                </a:custGeom>
                <a:noFill/>
                <a:ln w="9525">
                  <a:solidFill>
                    <a:srgbClr val="9AA5B4"/>
                  </a:solidFill>
                  <a:custDash>
                    <a:ds d="300000" sp="300000"/>
                  </a:custDash>
                </a:ln>
              </p:spPr>
            </p:sp>
          </p:grpSp>
          <p:grpSp>
            <p:nvGrpSpPr>
              <p:cNvPr id="79" name="Industry 4.0（节点+产品）"/>
              <p:cNvGrpSpPr/>
              <p:nvPr/>
            </p:nvGrpSpPr>
            <p:grpSpPr>
              <a:xfrm>
                <a:off x="8667750" y="695325"/>
                <a:ext cx="1562100" cy="4486275"/>
                <a:chOff x="8667750" y="695325"/>
                <a:chExt cx="1562100" cy="4486275"/>
              </a:xfrm>
            </p:grpSpPr>
            <p:sp>
              <p:nvSpPr>
                <p:cNvPr id="71" name="箭头 Industry 4.0→产品"/>
                <p:cNvSpPr/>
                <p:nvPr/>
              </p:nvSpPr>
              <p:spPr>
                <a:xfrm flipV="1">
                  <a:off x="9448800" y="1447800"/>
                  <a:ext cx="1" cy="171450"/>
                </a:xfrm>
                <a:prstGeom prst="line">
                  <a:avLst/>
                </a:prstGeom>
                <a:noFill/>
                <a:ln w="14288">
                  <a:solidFill>
                    <a:srgbClr val="8C97A6"/>
                  </a:solidFill>
                  <a:tailEnd type="triangle" w="lg" len="lg"/>
                </a:ln>
              </p:spPr>
            </p:sp>
            <p:sp>
              <p:nvSpPr>
                <p:cNvPr id="72" name="产品卡底板 4.0"/>
                <p:cNvSpPr/>
                <p:nvPr/>
              </p:nvSpPr>
              <p:spPr>
                <a:xfrm>
                  <a:off x="8667750" y="695325"/>
                  <a:ext cx="1562100" cy="742950"/>
                </a:xfrm>
                <a:prstGeom prst="rect">
                  <a:avLst/>
                </a:prstGeom>
                <a:solidFill>
                  <a:srgbClr val="F2F4F7"/>
                </a:solidFill>
                <a:ln>
                  <a:noFill/>
                </a:ln>
              </p:spPr>
            </p:sp>
            <p:sp>
              <p:nvSpPr>
                <p:cNvPr id="73" name="产品公式 4.0"/>
                <p:cNvSpPr txBox="1"/>
                <p:nvPr/>
              </p:nvSpPr>
              <p:spPr>
                <a:xfrm>
                  <a:off x="9033171" y="797242"/>
                  <a:ext cx="831258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C2410C"/>
                      </a:solidFill>
                      <a:latin typeface="+mj-lt"/>
                      <a:ea typeface="+mj-ea"/>
                      <a:cs typeface="+mj-cs"/>
                    </a:rPr>
                    <a:t>{</a:t>
                  </a:r>
                  <a:r>
                    <a:rPr lang="en-US" sz="1350" b="1" i="1" dirty="0">
                      <a:solidFill>
                        <a:srgbClr val="C2410C"/>
                      </a:solidFill>
                      <a:latin typeface="+mj-lt"/>
                      <a:ea typeface="+mj-ea"/>
                      <a:cs typeface="+mj-cs"/>
                    </a:rPr>
                    <a:t>X</a:t>
                  </a:r>
                  <a:r>
                    <a:rPr lang="en-US" sz="1350" b="1" i="1" baseline="-25000" dirty="0">
                      <a:solidFill>
                        <a:srgbClr val="C2410C"/>
                      </a:solidFill>
                      <a:latin typeface="+mj-lt"/>
                      <a:ea typeface="+mj-ea"/>
                      <a:cs typeface="+mj-cs"/>
                    </a:rPr>
                    <a:t>i</a:t>
                  </a:r>
                  <a:r>
                    <a:rPr lang="zh-CN" sz="1350" b="1" dirty="0">
                      <a:solidFill>
                        <a:srgbClr val="C2410C"/>
                      </a:solidFill>
                      <a:latin typeface="+mj-lt"/>
                      <a:ea typeface="+mj-ea"/>
                      <a:cs typeface="+mj-cs"/>
                    </a:rPr>
                    <a:t xml:space="preserve">} → </a:t>
                  </a:r>
                  <a:r>
                    <a:rPr lang="en-US" sz="1350" b="1" i="1" dirty="0">
                      <a:solidFill>
                        <a:srgbClr val="C2410C"/>
                      </a:solidFill>
                      <a:latin typeface="+mj-lt"/>
                      <a:ea typeface="+mj-ea"/>
                      <a:cs typeface="+mj-cs"/>
                    </a:rPr>
                    <a:t>X</a:t>
                  </a:r>
                  <a:r>
                    <a:rPr lang="en-US" sz="1350" b="1" baseline="-25000" dirty="0">
                      <a:solidFill>
                        <a:srgbClr val="C2410C"/>
                      </a:solidFill>
                      <a:latin typeface="+mj-lt"/>
                      <a:ea typeface="+mj-ea"/>
                      <a:cs typeface="+mj-cs"/>
                    </a:rPr>
                    <a:t>c</a:t>
                  </a:r>
                </a:p>
              </p:txBody>
            </p:sp>
            <p:sp>
              <p:nvSpPr>
                <p:cNvPr id="74" name="产品文字 4.0 定制化多样性产品"/>
                <p:cNvSpPr txBox="1"/>
                <p:nvPr/>
              </p:nvSpPr>
              <p:spPr>
                <a:xfrm>
                  <a:off x="8874887" y="1003300"/>
                  <a:ext cx="1147826" cy="4088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>
                    <a:lnSpc>
                      <a:spcPts val="1500"/>
                    </a:lnSpc>
                  </a:pPr>
                  <a:r>
                    <a:rPr lang="en-US" sz="980" dirty="0">
                      <a:solidFill>
                        <a:srgbClr val="5C6878"/>
                      </a:solidFill>
                      <a:latin typeface="+mn-lt"/>
                      <a:ea typeface="+mn-ea"/>
                      <a:cs typeface="+mn-cs"/>
                    </a:rPr>
                    <a:t>Customized variety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zh-CN" sz="1120" b="1" dirty="0">
                      <a:solidFill>
                        <a:srgbClr val="1A2433"/>
                      </a:solidFill>
                      <a:latin typeface="+mn-lt"/>
                      <a:ea typeface="+mn-ea"/>
                      <a:cs typeface="+mn-cs"/>
                    </a:rPr>
                    <a:t>定制化多样性产品</a:t>
                  </a:r>
                </a:p>
              </p:txBody>
            </p:sp>
            <p:sp>
              <p:nvSpPr>
                <p:cNvPr id="75" name="节点圆 Industry 4.0"/>
                <p:cNvSpPr/>
                <p:nvPr/>
              </p:nvSpPr>
              <p:spPr>
                <a:xfrm>
                  <a:off x="9144000" y="1657350"/>
                  <a:ext cx="609600" cy="609600"/>
                </a:xfrm>
                <a:prstGeom prst="ellipse">
                  <a:avLst/>
                </a:prstGeom>
                <a:solidFill>
                  <a:srgbClr val="1A2433"/>
                </a:solidFill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6" name="节点文字 Industry 4.0"/>
                <p:cNvSpPr txBox="1"/>
                <p:nvPr/>
              </p:nvSpPr>
              <p:spPr>
                <a:xfrm>
                  <a:off x="9240744" y="1762125"/>
                  <a:ext cx="416113" cy="4905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>
                    <a:lnSpc>
                      <a:spcPts val="1575"/>
                    </a:lnSpc>
                  </a:pPr>
                  <a:r>
                    <a:rPr lang="en-US" sz="9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Industry</a:t>
                  </a:r>
                </a:p>
                <a:p>
                  <a:pPr algn="ctr">
                    <a:lnSpc>
                      <a:spcPts val="1575"/>
                    </a:lnSpc>
                  </a:pPr>
                  <a:r>
                    <a:rPr lang="zh-CN" sz="15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4.0</a:t>
                  </a:r>
                </a:p>
              </p:txBody>
            </p:sp>
            <p:sp>
              <p:nvSpPr>
                <p:cNvPr id="77" name="基线刻度点 4.0"/>
                <p:cNvSpPr/>
                <p:nvPr/>
              </p:nvSpPr>
              <p:spPr>
                <a:xfrm>
                  <a:off x="9405938" y="4529138"/>
                  <a:ext cx="85725" cy="85725"/>
                </a:xfrm>
                <a:prstGeom prst="ellipse">
                  <a:avLst/>
                </a:prstGeom>
                <a:solidFill>
                  <a:srgbClr val="1A2433"/>
                </a:solidFill>
                <a:ln>
                  <a:noFill/>
                </a:ln>
              </p:spPr>
            </p:sp>
            <p:sp>
              <p:nvSpPr>
                <p:cNvPr id="78" name="虚线 Industry 4.0→案例照片"/>
                <p:cNvSpPr/>
                <p:nvPr/>
              </p:nvSpPr>
              <p:spPr>
                <a:xfrm>
                  <a:off x="9448800" y="4629150"/>
                  <a:ext cx="9525" cy="55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52450">
                      <a:moveTo>
                        <a:pt x="0" y="0"/>
                      </a:moveTo>
                      <a:lnTo>
                        <a:pt x="0" y="552450"/>
                      </a:lnTo>
                    </a:path>
                  </a:pathLst>
                </a:custGeom>
                <a:noFill/>
                <a:ln w="9525">
                  <a:solidFill>
                    <a:srgbClr val="9AA5B4"/>
                  </a:solidFill>
                  <a:custDash>
                    <a:ds d="300000" sp="300000"/>
                  </a:custDash>
                </a:ln>
              </p:spPr>
            </p:sp>
          </p:grpSp>
        </p:grpSp>
      </p:grpSp>
      <p:grpSp>
        <p:nvGrpSpPr>
          <p:cNvPr id="100" name="工业革命案例（照片+图注）"/>
          <p:cNvGrpSpPr/>
          <p:nvPr/>
        </p:nvGrpSpPr>
        <p:grpSpPr>
          <a:xfrm>
            <a:off x="1690688" y="5181600"/>
            <a:ext cx="8767762" cy="1472247"/>
            <a:chOff x="1690688" y="5181600"/>
            <a:chExt cx="8767762" cy="1472247"/>
          </a:xfrm>
        </p:grpSpPr>
        <p:grpSp>
          <p:nvGrpSpPr>
            <p:cNvPr id="85" name="案例 1.0 瓦特蒸汽机"/>
            <p:cNvGrpSpPr/>
            <p:nvPr/>
          </p:nvGrpSpPr>
          <p:grpSpPr>
            <a:xfrm>
              <a:off x="1690688" y="5181600"/>
              <a:ext cx="2024062" cy="1472247"/>
              <a:chOff x="1690688" y="5181600"/>
              <a:chExt cx="2024062" cy="1472247"/>
            </a:xfrm>
          </p:grpSpPr>
          <p:pic>
            <p:nvPicPr>
              <p:cNvPr id="82" name="照片-瓦特与蒸汽机"/>
              <p:cNvPicPr>
                <a:picLocks noChangeAspect="1"/>
              </p:cNvPicPr>
              <p:nvPr/>
            </p:nvPicPr>
            <p:blipFill>
              <a:blip r:embed="rId4"/>
              <a:srcRect l="0" t="12568" r="0" b="12567"/>
              <a:stretch>
                <a:fillRect/>
              </a:stretch>
            </p:blipFill>
            <p:spPr>
              <a:xfrm>
                <a:off x="1695450" y="5181600"/>
                <a:ext cx="2019300" cy="876300"/>
              </a:xfrm>
              <a:prstGeom prst="rect">
                <a:avLst/>
              </a:prstGeom>
            </p:spPr>
          </p:pic>
          <p:sp>
            <p:nvSpPr>
              <p:cNvPr id="83" name="照片细框 1.0"/>
              <p:cNvSpPr/>
              <p:nvPr/>
            </p:nvSpPr>
            <p:spPr>
              <a:xfrm>
                <a:off x="1695450" y="5181600"/>
                <a:ext cx="2019300" cy="876300"/>
              </a:xfrm>
              <a:prstGeom prst="rect">
                <a:avLst/>
              </a:prstGeom>
              <a:noFill/>
              <a:ln w="9525">
                <a:solidFill>
                  <a:srgbClr val="D5DCE4"/>
                </a:solidFill>
              </a:ln>
            </p:spPr>
          </p:sp>
          <p:sp>
            <p:nvSpPr>
              <p:cNvPr id="84" name="图注 1.0 瓦特蒸汽机"/>
              <p:cNvSpPr txBox="1"/>
              <p:nvPr/>
            </p:nvSpPr>
            <p:spPr>
              <a:xfrm>
                <a:off x="1690688" y="6092825"/>
                <a:ext cx="777593" cy="5610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75"/>
                  </a:lnSpc>
                </a:pPr>
                <a:r>
                  <a:rPr lang="en-US" sz="900" b="1" dirty="0">
                    <a:solidFill>
                      <a:srgbClr val="1A2433"/>
                    </a:solidFill>
                    <a:latin typeface="+mn-lt"/>
                    <a:ea typeface="+mn-ea"/>
                    <a:cs typeface="+mn-cs"/>
                  </a:rPr>
                  <a:t>Industry 1.0 –</a:t>
                </a:r>
              </a:p>
              <a:p>
                <a:pPr algn="l">
                  <a:lnSpc>
                    <a:spcPts val="1275"/>
                  </a:lnSpc>
                </a:pPr>
                <a:r>
                  <a:rPr lang="en-US" sz="980" dirty="0">
                    <a:solidFill>
                      <a:srgbClr val="5C6878"/>
                    </a:solidFill>
                    <a:latin typeface="+mn-lt"/>
                    <a:ea typeface="+mn-ea"/>
                    <a:cs typeface="+mn-cs"/>
                  </a:rPr>
                  <a:t>Steam engine</a:t>
                </a:r>
              </a:p>
              <a:p>
                <a:pPr algn="l">
                  <a:lnSpc>
                    <a:spcPts val="1275"/>
                  </a:lnSpc>
                  <a:spcBef>
                    <a:spcPts val="150"/>
                  </a:spcBef>
                </a:pPr>
                <a:r>
                  <a:rPr lang="zh-CN" sz="1120" b="1" dirty="0">
                    <a:solidFill>
                      <a:srgbClr val="1A2433"/>
                    </a:solidFill>
                    <a:latin typeface="+mn-lt"/>
                    <a:ea typeface="+mn-ea"/>
                    <a:cs typeface="+mn-cs"/>
                  </a:rPr>
                  <a:t>瓦特蒸汽机</a:t>
                </a:r>
              </a:p>
            </p:txBody>
          </p:sp>
        </p:grpSp>
        <p:grpSp>
          <p:nvGrpSpPr>
            <p:cNvPr id="90" name="案例 2.0 福特流水式生产线"/>
            <p:cNvGrpSpPr/>
            <p:nvPr/>
          </p:nvGrpSpPr>
          <p:grpSpPr>
            <a:xfrm>
              <a:off x="3938588" y="5181600"/>
              <a:ext cx="2024062" cy="1472247"/>
              <a:chOff x="3938588" y="5181600"/>
              <a:chExt cx="2024062" cy="1472247"/>
            </a:xfrm>
          </p:grpSpPr>
          <p:pic>
            <p:nvPicPr>
              <p:cNvPr id="86" name="照片-福特肖像"/>
              <p:cNvPicPr>
                <a:picLocks noChangeAspect="1"/>
              </p:cNvPicPr>
              <p:nvPr/>
            </p:nvPicPr>
            <p:blipFill>
              <a:blip r:embed="rId5"/>
              <a:srcRect l="7200" t="0" r="7201" b="0"/>
              <a:stretch>
                <a:fillRect/>
              </a:stretch>
            </p:blipFill>
            <p:spPr>
              <a:xfrm>
                <a:off x="3943350" y="5181600"/>
                <a:ext cx="723900" cy="876300"/>
              </a:xfrm>
              <a:prstGeom prst="rect">
                <a:avLst/>
              </a:prstGeom>
            </p:spPr>
          </p:pic>
          <p:pic>
            <p:nvPicPr>
              <p:cNvPr id="87" name="照片-福特流水线"/>
              <p:cNvPicPr>
                <a:picLocks noChangeAspect="1"/>
              </p:cNvPicPr>
              <p:nvPr/>
            </p:nvPicPr>
            <p:blipFill>
              <a:blip r:embed="rId6"/>
              <a:srcRect l="0" t="0" r="31361" b="0"/>
              <a:stretch>
                <a:fillRect/>
              </a:stretch>
            </p:blipFill>
            <p:spPr>
              <a:xfrm>
                <a:off x="4705350" y="5181600"/>
                <a:ext cx="1257300" cy="876300"/>
              </a:xfrm>
              <a:prstGeom prst="rect">
                <a:avLst/>
              </a:prstGeom>
            </p:spPr>
          </p:pic>
          <p:sp>
            <p:nvSpPr>
              <p:cNvPr id="88" name="照片细框 2.0"/>
              <p:cNvSpPr/>
              <p:nvPr/>
            </p:nvSpPr>
            <p:spPr>
              <a:xfrm>
                <a:off x="3943350" y="5181600"/>
                <a:ext cx="2019300" cy="876300"/>
              </a:xfrm>
              <a:prstGeom prst="rect">
                <a:avLst/>
              </a:prstGeom>
              <a:noFill/>
              <a:ln w="9525">
                <a:solidFill>
                  <a:srgbClr val="D5DCE4"/>
                </a:solidFill>
              </a:ln>
            </p:spPr>
          </p:sp>
          <p:sp>
            <p:nvSpPr>
              <p:cNvPr id="89" name="图注 2.0 福特流水式生产线"/>
              <p:cNvSpPr txBox="1"/>
              <p:nvPr/>
            </p:nvSpPr>
            <p:spPr>
              <a:xfrm>
                <a:off x="3938588" y="6092825"/>
                <a:ext cx="1365517" cy="5610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75"/>
                  </a:lnSpc>
                </a:pPr>
                <a:r>
                  <a:rPr lang="en-US" sz="900" b="1" dirty="0">
                    <a:solidFill>
                      <a:srgbClr val="1A2433"/>
                    </a:solidFill>
                    <a:latin typeface="+mn-lt"/>
                    <a:ea typeface="+mn-ea"/>
                    <a:cs typeface="+mn-cs"/>
                  </a:rPr>
                  <a:t>Industry 2.0 –</a:t>
                </a:r>
              </a:p>
              <a:p>
                <a:pPr algn="l">
                  <a:lnSpc>
                    <a:spcPts val="1275"/>
                  </a:lnSpc>
                </a:pPr>
                <a:r>
                  <a:rPr lang="en-US" sz="980" dirty="0">
                    <a:solidFill>
                      <a:srgbClr val="5C6878"/>
                    </a:solidFill>
                    <a:latin typeface="+mn-lt"/>
                    <a:ea typeface="+mn-ea"/>
                    <a:cs typeface="+mn-cs"/>
                  </a:rPr>
                  <a:t>Ford flow production line</a:t>
                </a:r>
              </a:p>
              <a:p>
                <a:pPr algn="l">
                  <a:lnSpc>
                    <a:spcPts val="1275"/>
                  </a:lnSpc>
                  <a:spcBef>
                    <a:spcPts val="150"/>
                  </a:spcBef>
                </a:pPr>
                <a:r>
                  <a:rPr lang="zh-CN" sz="1120" b="1" dirty="0">
                    <a:solidFill>
                      <a:srgbClr val="1A2433"/>
                    </a:solidFill>
                    <a:latin typeface="+mn-lt"/>
                    <a:ea typeface="+mn-ea"/>
                    <a:cs typeface="+mn-cs"/>
                  </a:rPr>
                  <a:t>福特流水式生产线</a:t>
                </a:r>
              </a:p>
            </p:txBody>
          </p:sp>
        </p:grpSp>
        <p:grpSp>
          <p:nvGrpSpPr>
            <p:cNvPr id="94" name="案例 3.0 丰田生产系统"/>
            <p:cNvGrpSpPr/>
            <p:nvPr/>
          </p:nvGrpSpPr>
          <p:grpSpPr>
            <a:xfrm>
              <a:off x="6186488" y="5181600"/>
              <a:ext cx="2024062" cy="1472247"/>
              <a:chOff x="6186488" y="5181600"/>
              <a:chExt cx="2024062" cy="1472247"/>
            </a:xfrm>
          </p:grpSpPr>
          <p:pic>
            <p:nvPicPr>
              <p:cNvPr id="91" name="照片-丰田生产系统"/>
              <p:cNvPicPr>
                <a:picLocks noChangeAspect="1"/>
              </p:cNvPicPr>
              <p:nvPr/>
            </p:nvPicPr>
            <p:blipFill>
              <a:blip r:embed="rId7"/>
              <a:srcRect l="0" t="0" r="0" b="13208"/>
              <a:stretch>
                <a:fillRect/>
              </a:stretch>
            </p:blipFill>
            <p:spPr>
              <a:xfrm>
                <a:off x="6191250" y="5181600"/>
                <a:ext cx="2019300" cy="876300"/>
              </a:xfrm>
              <a:prstGeom prst="rect">
                <a:avLst/>
              </a:prstGeom>
            </p:spPr>
          </p:pic>
          <p:sp>
            <p:nvSpPr>
              <p:cNvPr id="92" name="照片细框 3.0"/>
              <p:cNvSpPr/>
              <p:nvPr/>
            </p:nvSpPr>
            <p:spPr>
              <a:xfrm>
                <a:off x="6191250" y="5181600"/>
                <a:ext cx="2019300" cy="876300"/>
              </a:xfrm>
              <a:prstGeom prst="rect">
                <a:avLst/>
              </a:prstGeom>
              <a:noFill/>
              <a:ln w="9525">
                <a:solidFill>
                  <a:srgbClr val="D5DCE4"/>
                </a:solidFill>
              </a:ln>
            </p:spPr>
          </p:sp>
          <p:sp>
            <p:nvSpPr>
              <p:cNvPr id="93" name="图注 3.0 丰田生产系统"/>
              <p:cNvSpPr txBox="1"/>
              <p:nvPr/>
            </p:nvSpPr>
            <p:spPr>
              <a:xfrm>
                <a:off x="6186488" y="6092825"/>
                <a:ext cx="1434592" cy="5610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75"/>
                  </a:lnSpc>
                </a:pPr>
                <a:r>
                  <a:rPr lang="en-US" sz="900" b="1" dirty="0">
                    <a:solidFill>
                      <a:srgbClr val="1A2433"/>
                    </a:solidFill>
                    <a:latin typeface="+mn-lt"/>
                    <a:ea typeface="+mn-ea"/>
                    <a:cs typeface="+mn-cs"/>
                  </a:rPr>
                  <a:t>Industry 3.0 –</a:t>
                </a:r>
              </a:p>
              <a:p>
                <a:pPr algn="l">
                  <a:lnSpc>
                    <a:spcPts val="1275"/>
                  </a:lnSpc>
                </a:pPr>
                <a:r>
                  <a:rPr lang="en-US" sz="980" dirty="0">
                    <a:solidFill>
                      <a:srgbClr val="5C6878"/>
                    </a:solidFill>
                    <a:latin typeface="+mn-lt"/>
                    <a:ea typeface="+mn-ea"/>
                    <a:cs typeface="+mn-cs"/>
                  </a:rPr>
                  <a:t>Toyota production system</a:t>
                </a:r>
              </a:p>
              <a:p>
                <a:pPr algn="l">
                  <a:lnSpc>
                    <a:spcPts val="1275"/>
                  </a:lnSpc>
                  <a:spcBef>
                    <a:spcPts val="150"/>
                  </a:spcBef>
                </a:pPr>
                <a:r>
                  <a:rPr lang="zh-CN" sz="1120" b="1" dirty="0">
                    <a:solidFill>
                      <a:srgbClr val="1A2433"/>
                    </a:solidFill>
                    <a:latin typeface="+mn-lt"/>
                    <a:ea typeface="+mn-ea"/>
                    <a:cs typeface="+mn-cs"/>
                  </a:rPr>
                  <a:t>丰田生产系统</a:t>
                </a:r>
              </a:p>
            </p:txBody>
          </p:sp>
        </p:grpSp>
        <p:grpSp>
          <p:nvGrpSpPr>
            <p:cNvPr id="99" name="案例 4.0 西门子黑灯工厂"/>
            <p:cNvGrpSpPr/>
            <p:nvPr/>
          </p:nvGrpSpPr>
          <p:grpSpPr>
            <a:xfrm>
              <a:off x="8434388" y="5181600"/>
              <a:ext cx="2024062" cy="1472247"/>
              <a:chOff x="8434388" y="5181600"/>
              <a:chExt cx="2024062" cy="1472247"/>
            </a:xfrm>
          </p:grpSpPr>
          <p:pic>
            <p:nvPicPr>
              <p:cNvPr id="95" name="照片-西门子肖像"/>
              <p:cNvPicPr>
                <a:picLocks noChangeAspect="1"/>
              </p:cNvPicPr>
              <p:nvPr/>
            </p:nvPicPr>
            <p:blipFill>
              <a:blip r:embed="rId8"/>
              <a:srcRect l="8696" t="0" r="8695" b="0"/>
              <a:stretch>
                <a:fillRect/>
              </a:stretch>
            </p:blipFill>
            <p:spPr>
              <a:xfrm>
                <a:off x="8439150" y="5181600"/>
                <a:ext cx="723900" cy="876300"/>
              </a:xfrm>
              <a:prstGeom prst="rect">
                <a:avLst/>
              </a:prstGeom>
            </p:spPr>
          </p:pic>
          <p:pic>
            <p:nvPicPr>
              <p:cNvPr id="96" name="照片-黑灯工厂"/>
              <p:cNvPicPr>
                <a:picLocks noChangeAspect="1"/>
              </p:cNvPicPr>
              <p:nvPr/>
            </p:nvPicPr>
            <p:blipFill>
              <a:blip r:embed="rId9"/>
              <a:srcRect l="6546" t="0" r="6547" b="0"/>
              <a:stretch>
                <a:fillRect/>
              </a:stretch>
            </p:blipFill>
            <p:spPr>
              <a:xfrm>
                <a:off x="9201150" y="5181600"/>
                <a:ext cx="1257300" cy="876300"/>
              </a:xfrm>
              <a:prstGeom prst="rect">
                <a:avLst/>
              </a:prstGeom>
            </p:spPr>
          </p:pic>
          <p:sp>
            <p:nvSpPr>
              <p:cNvPr id="97" name="照片细框 4.0"/>
              <p:cNvSpPr/>
              <p:nvPr/>
            </p:nvSpPr>
            <p:spPr>
              <a:xfrm>
                <a:off x="8439150" y="5181600"/>
                <a:ext cx="2019300" cy="876300"/>
              </a:xfrm>
              <a:prstGeom prst="rect">
                <a:avLst/>
              </a:prstGeom>
              <a:noFill/>
              <a:ln w="9525">
                <a:solidFill>
                  <a:srgbClr val="D5DCE4"/>
                </a:solidFill>
              </a:ln>
            </p:spPr>
          </p:sp>
          <p:sp>
            <p:nvSpPr>
              <p:cNvPr id="98" name="图注 4.0 西门子黑灯工厂"/>
              <p:cNvSpPr txBox="1"/>
              <p:nvPr/>
            </p:nvSpPr>
            <p:spPr>
              <a:xfrm>
                <a:off x="8434388" y="6092825"/>
                <a:ext cx="1441462" cy="5610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275"/>
                  </a:lnSpc>
                </a:pPr>
                <a:r>
                  <a:rPr lang="en-US" sz="900" b="1" dirty="0">
                    <a:solidFill>
                      <a:srgbClr val="1A2433"/>
                    </a:solidFill>
                    <a:latin typeface="+mn-lt"/>
                    <a:ea typeface="+mn-ea"/>
                    <a:cs typeface="+mn-cs"/>
                  </a:rPr>
                  <a:t>Industry 4.0 –</a:t>
                </a:r>
              </a:p>
              <a:p>
                <a:pPr algn="l">
                  <a:lnSpc>
                    <a:spcPts val="1275"/>
                  </a:lnSpc>
                </a:pPr>
                <a:r>
                  <a:rPr lang="en-US" sz="980" dirty="0">
                    <a:solidFill>
                      <a:srgbClr val="5C6878"/>
                    </a:solidFill>
                    <a:latin typeface="+mn-lt"/>
                    <a:ea typeface="+mn-ea"/>
                    <a:cs typeface="+mn-cs"/>
                  </a:rPr>
                  <a:t>Siemens lights-out factory</a:t>
                </a:r>
              </a:p>
              <a:p>
                <a:pPr algn="l">
                  <a:lnSpc>
                    <a:spcPts val="1275"/>
                  </a:lnSpc>
                  <a:spcBef>
                    <a:spcPts val="150"/>
                  </a:spcBef>
                </a:pPr>
                <a:r>
                  <a:rPr lang="zh-CN" sz="1120" b="1" dirty="0">
                    <a:solidFill>
                      <a:srgbClr val="1A2433"/>
                    </a:solidFill>
                    <a:latin typeface="+mn-lt"/>
                    <a:ea typeface="+mn-ea"/>
                    <a:cs typeface="+mn-cs"/>
                  </a:rPr>
                  <a:t>西门子黑灯工厂</a:t>
                </a:r>
              </a:p>
            </p:txBody>
          </p:sp>
        </p:grpSp>
      </p:grpSp>
      <p:sp>
        <p:nvSpPr>
          <p:cNvPr id="101" name="页码（自动）"/>
          <p:cNvSpPr txBox="1"/>
          <p:nvPr/>
        </p:nvSpPr>
        <p:spPr>
          <a:xfrm>
            <a:off x="11277600" y="6534150"/>
            <a:ext cx="457200" cy="1762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r"/>
            <a:fld id="{5C1B3D8E-2F4A-4C6B-9E1D-7A8B9C0D1E2F}" type="slidenum">
              <a:rPr lang="zh-CN" sz="900" dirty="0">
                <a:solidFill>
                  <a:srgbClr val="8C97A6"/>
                </a:solidFill>
                <a:latin typeface="+mn-lt"/>
                <a:ea typeface="+mn-ea"/>
                <a:cs typeface="+mn-cs"/>
              </a:rPr>
              <a:t>1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ustry_evolution">
  <a:themeElements>
    <a:clrScheme name="industry_evolutio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dustry_evolution">
      <a:majorFont>
        <a:latin typeface="Cambria"/>
        <a:ea typeface="Microsoft YaHei"/>
        <a:cs typeface="Cambr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ndustry_evolu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2026-10-19T11:46:30Z</dcterms:created>
  <dcterms:modified xsi:type="dcterms:W3CDTF">2026-10-19T11:46:30Z</dcterms:modified>
  <cp:category/>
  <cp:contentStatus/>
</cp:coreProperties>
</file>
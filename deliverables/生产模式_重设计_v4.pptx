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49988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874795B-3900-4CFB-9713-9C46FF28EEE2}">
          <p14:sldIdLst>
            <p14:sldId id="14998881"/>
          </p14:sldIdLst>
        </p14:section>
        <p14:section name="无标题节" id="{3A887434-24C6-4C57-85CE-7508F286C9E0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737" userDrawn="1">
          <p15:clr>
            <a:srgbClr val="A4A3A4"/>
          </p15:clr>
        </p15:guide>
        <p15:guide id="3" pos="3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2C5"/>
    <a:srgbClr val="ECF4FA"/>
    <a:srgbClr val="CBE5FF"/>
    <a:srgbClr val="E6E6E6"/>
    <a:srgbClr val="A1C6F1"/>
    <a:srgbClr val="0070C0"/>
    <a:srgbClr val="E0EEF9"/>
    <a:srgbClr val="EDF2F8"/>
    <a:srgbClr val="0750C3"/>
    <a:srgbClr val="E7E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1" autoAdjust="0"/>
    <p:restoredTop sz="84994" autoAdjust="0"/>
  </p:normalViewPr>
  <p:slideViewPr>
    <p:cSldViewPr snapToGrid="0" showGuides="1">
      <p:cViewPr varScale="1">
        <p:scale>
          <a:sx n="94" d="100"/>
          <a:sy n="94" d="100"/>
        </p:scale>
        <p:origin x="1152" y="78"/>
      </p:cViewPr>
      <p:guideLst>
        <p:guide orient="horz" pos="737"/>
        <p:guide pos="375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2026/10/19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1FB46DC-A254-47A7-B9A1-76F1E69A2DE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890F4963-78CF-4C65-96E8-023F561C1F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本页结构：工业1.0—4.0 四个阶段，加工业4.0之后的“下一阶段”（即原图 4.X，本项目方向）。</a:t>
            </a:r>
          </a:p>
          <a:p>
            <a:pPr/>
            <a:r>
              <a:rPr lang="zh-CN" dirty="0"/>
              <a:t>编号对应：原图 0.X—4.X 为五个阶段区间，工业 N.0 对应 (N−1).X 阶段：工业1.0 = 0.X 机械化，工业2.0 = 1.X 电气化，工业3.0 = 2.X 自动化，工业4.0 = 3.X 智能化；4.X 为工业4.0之后的下一阶段，原图未给出技术名称。</a:t>
            </a:r>
          </a:p>
          <a:p>
            <a:pPr/>
            <a:r>
              <a:rPr lang="zh-CN" dirty="0"/>
              <a:t>产品形态（原图公式）：工业1.0 基础性产品 0→1；工业2.0 标准化产品 1→X；工业3.0 多样化产品 X→{Xi}；工业4.0 定制化多样性产品 {Xi}→Xc。</a:t>
            </a:r>
          </a:p>
          <a:p>
            <a:pPr/>
            <a:r>
              <a:rPr lang="zh-CN" dirty="0"/>
              <a:t>代表案例（原图）：工业1.0 瓦特蒸汽机；工业2.0 福特流水式生产线；工业3.0 丰田生产系统；工业4.0 西门子黑灯工厂。</a:t>
            </a:r>
          </a:p>
          <a:p>
            <a:pPr/>
            <a:r>
              <a:rPr lang="zh-CN" dirty="0"/>
              <a:t>英文对照：运作管理模式 Management Mode——基于经验型 Man-managed；基于产能型 Capacity-based；基于计划型 Plan-based；客户驱动型 Customer-driven；环境适应型 Environment-adapted。系统组织结构 System Structure——功能化机器 Functionalized Machines；流水化产线 Flow Production Lines；自动化单元 Automated Production Cells；柔性化系统 Flexible Production System；演进化系统 Evolvable Production System。阶段 Mechanization / Electrification / Automation / Intelligentization。</a:t>
            </a:r>
          </a:p>
          <a:p>
            <a:pPr/>
            <a:r>
              <a:rPr lang="zh-CN" dirty="0"/>
              <a:t>过渡句“系统越柔性、越可演进，生产与物流越需要协同”用于引出后续生产物流协同问题，是本页的归纳表述，不是原图内容。</a:t>
            </a:r>
          </a:p>
          <a:p>
            <a:pPr/>
            <a:r>
              <a:rPr lang="zh-CN" dirty="0"/>
              <a:t>图片来源：① 瓦特蒸汽机、② 福特流水式生产线（黑白）、③ 丰田生产系统（黑白）三张圆形配图均裁自原稿图片（原图约 300×160 像素，分别取原稿拼图中的蒸汽机、产线部分），未独立核实具体展品或拍摄地点；因分辨率有限，以小尺寸圆形呈现。④ 工业机器人生产线照片沿用原稿图片（2000×1211 像素），原稿用作“西门子黑灯工厂”配图，但画面中为 KUKA 机器人，无法确认拍摄自西门子工厂，本页标注为示意。⑤ 项目孪生平台界面取自本套 PPT“开发流程”页，界面标题为“分布式制造系统优态管控孪生平台”。</a:t>
            </a:r>
          </a:p>
        </p:txBody>
      </p:sp>
    </p:spTree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rcRect r="92806" b="31290"/>
          <a:stretch>
            <a:fillRect/>
          </a:stretch>
        </p:blipFill>
        <p:spPr>
          <a:xfrm>
            <a:off x="229124" y="142240"/>
            <a:ext cx="842971" cy="519430"/>
          </a:xfrm>
          <a:custGeom>
            <a:avLst/>
            <a:gdLst>
              <a:gd name="connsiteX0" fmla="*/ 0 w 842971"/>
              <a:gd name="connsiteY0" fmla="*/ 0 h 519430"/>
              <a:gd name="connsiteX1" fmla="*/ 842971 w 842971"/>
              <a:gd name="connsiteY1" fmla="*/ 0 h 519430"/>
              <a:gd name="connsiteX2" fmla="*/ 842971 w 842971"/>
              <a:gd name="connsiteY2" fmla="*/ 519430 h 519430"/>
              <a:gd name="connsiteX3" fmla="*/ 0 w 842971"/>
              <a:gd name="connsiteY3" fmla="*/ 519430 h 519430"/>
              <a:gd name="connsiteX4" fmla="*/ 0 w 842971"/>
              <a:gd name="connsiteY4" fmla="*/ 0 h 5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971" h="519430">
                <a:moveTo>
                  <a:pt x="0" y="0"/>
                </a:moveTo>
                <a:lnTo>
                  <a:pt x="842971" y="0"/>
                </a:lnTo>
                <a:lnTo>
                  <a:pt x="842971" y="519430"/>
                </a:lnTo>
                <a:lnTo>
                  <a:pt x="0" y="51943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rcRect l="-1991" t="-9408" r="92806" b="31290"/>
          <a:stretch>
            <a:fillRect/>
          </a:stretch>
        </p:blipFill>
        <p:spPr>
          <a:xfrm>
            <a:off x="1" y="0"/>
            <a:ext cx="1076325" cy="590551"/>
          </a:xfrm>
          <a:custGeom>
            <a:avLst/>
            <a:gdLst>
              <a:gd name="connsiteX0" fmla="*/ 0 w 1076325"/>
              <a:gd name="connsiteY0" fmla="*/ 0 h 590551"/>
              <a:gd name="connsiteX1" fmla="*/ 1076325 w 1076325"/>
              <a:gd name="connsiteY1" fmla="*/ 0 h 590551"/>
              <a:gd name="connsiteX2" fmla="*/ 1076325 w 1076325"/>
              <a:gd name="connsiteY2" fmla="*/ 71121 h 590551"/>
              <a:gd name="connsiteX3" fmla="*/ 233354 w 1076325"/>
              <a:gd name="connsiteY3" fmla="*/ 71121 h 590551"/>
              <a:gd name="connsiteX4" fmla="*/ 233354 w 1076325"/>
              <a:gd name="connsiteY4" fmla="*/ 590551 h 590551"/>
              <a:gd name="connsiteX5" fmla="*/ 0 w 1076325"/>
              <a:gd name="connsiteY5" fmla="*/ 590551 h 590551"/>
              <a:gd name="connsiteX6" fmla="*/ 0 w 1076325"/>
              <a:gd name="connsiteY6" fmla="*/ 0 h 59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325" h="590551">
                <a:moveTo>
                  <a:pt x="0" y="0"/>
                </a:moveTo>
                <a:lnTo>
                  <a:pt x="1076325" y="0"/>
                </a:lnTo>
                <a:lnTo>
                  <a:pt x="1076325" y="71121"/>
                </a:lnTo>
                <a:lnTo>
                  <a:pt x="233354" y="71121"/>
                </a:lnTo>
                <a:lnTo>
                  <a:pt x="233354" y="590551"/>
                </a:lnTo>
                <a:lnTo>
                  <a:pt x="0" y="59055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33354" y="71120"/>
            <a:ext cx="11717528" cy="755970"/>
          </a:xfrm>
          <a:custGeom>
            <a:avLst/>
            <a:gdLst>
              <a:gd name="connsiteX0" fmla="*/ 842971 w 11717528"/>
              <a:gd name="connsiteY0" fmla="*/ 0 h 755970"/>
              <a:gd name="connsiteX1" fmla="*/ 11717528 w 11717528"/>
              <a:gd name="connsiteY1" fmla="*/ 0 h 755970"/>
              <a:gd name="connsiteX2" fmla="*/ 11717528 w 11717528"/>
              <a:gd name="connsiteY2" fmla="*/ 755970 h 755970"/>
              <a:gd name="connsiteX3" fmla="*/ 0 w 11717528"/>
              <a:gd name="connsiteY3" fmla="*/ 755970 h 755970"/>
              <a:gd name="connsiteX4" fmla="*/ 0 w 11717528"/>
              <a:gd name="connsiteY4" fmla="*/ 519430 h 755970"/>
              <a:gd name="connsiteX5" fmla="*/ 842971 w 11717528"/>
              <a:gd name="connsiteY5" fmla="*/ 519430 h 755970"/>
              <a:gd name="connsiteX6" fmla="*/ 842971 w 11717528"/>
              <a:gd name="connsiteY6" fmla="*/ 0 h 75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17528" h="755970">
                <a:moveTo>
                  <a:pt x="842971" y="0"/>
                </a:moveTo>
                <a:lnTo>
                  <a:pt x="11717528" y="0"/>
                </a:lnTo>
                <a:lnTo>
                  <a:pt x="11717528" y="755970"/>
                </a:lnTo>
                <a:lnTo>
                  <a:pt x="0" y="755970"/>
                </a:lnTo>
                <a:lnTo>
                  <a:pt x="0" y="519430"/>
                </a:lnTo>
                <a:lnTo>
                  <a:pt x="842971" y="519430"/>
                </a:lnTo>
                <a:lnTo>
                  <a:pt x="842971" y="0"/>
                </a:lnTo>
                <a:close/>
              </a:path>
            </a:pathLst>
          </a:custGeom>
        </p:spPr>
      </p:pic>
      <p:pic>
        <p:nvPicPr>
          <p:cNvPr id="533" name="图片 53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3" b="10140"/>
          <a:stretch>
            <a:fillRect/>
          </a:stretch>
        </p:blipFill>
        <p:spPr>
          <a:xfrm>
            <a:off x="0" y="2423160"/>
            <a:ext cx="12192000" cy="445235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6355079"/>
            <a:ext cx="12196230" cy="50292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rcRect t="8811" r="74375" b="34423"/>
          <a:stretch>
            <a:fillRect/>
          </a:stretch>
        </p:blipFill>
        <p:spPr>
          <a:xfrm>
            <a:off x="11438894" y="207002"/>
            <a:ext cx="495550" cy="494082"/>
          </a:xfrm>
          <a:custGeom>
            <a:avLst/>
            <a:gdLst>
              <a:gd name="connsiteX0" fmla="*/ 0 w 495550"/>
              <a:gd name="connsiteY0" fmla="*/ 0 h 494082"/>
              <a:gd name="connsiteX1" fmla="*/ 495550 w 495550"/>
              <a:gd name="connsiteY1" fmla="*/ 0 h 494082"/>
              <a:gd name="connsiteX2" fmla="*/ 495550 w 495550"/>
              <a:gd name="connsiteY2" fmla="*/ 494082 h 494082"/>
              <a:gd name="connsiteX3" fmla="*/ 0 w 495550"/>
              <a:gd name="connsiteY3" fmla="*/ 494082 h 494082"/>
              <a:gd name="connsiteX4" fmla="*/ 0 w 495550"/>
              <a:gd name="connsiteY4" fmla="*/ 0 h 49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550" h="494082">
                <a:moveTo>
                  <a:pt x="0" y="0"/>
                </a:moveTo>
                <a:lnTo>
                  <a:pt x="495550" y="0"/>
                </a:lnTo>
                <a:lnTo>
                  <a:pt x="495550" y="494082"/>
                </a:lnTo>
                <a:lnTo>
                  <a:pt x="0" y="494082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6" t="12267" r="8022" b="13974"/>
          <a:stretch>
            <a:fillRect/>
          </a:stretch>
        </p:blipFill>
        <p:spPr>
          <a:xfrm>
            <a:off x="10734063" y="226629"/>
            <a:ext cx="635071" cy="474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  <p:sp>
        <p:nvSpPr>
          <p:cNvPr id="3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8" Type="http://schemas.openxmlformats.org/officeDocument/2006/relationships/tags" Target="../tags/tag8.xml" /><Relationship Id="rId13" Type="http://schemas.openxmlformats.org/officeDocument/2006/relationships/tags" Target="../tags/tag13.xml" /><Relationship Id="rId3" Type="http://schemas.openxmlformats.org/officeDocument/2006/relationships/tags" Target="../tags/tag3.xml" /><Relationship Id="rId7" Type="http://schemas.openxmlformats.org/officeDocument/2006/relationships/tags" Target="../tags/tag7.xml" /><Relationship Id="rId12" Type="http://schemas.openxmlformats.org/officeDocument/2006/relationships/tags" Target="../tags/tag12.xml" /><Relationship Id="rId2" Type="http://schemas.openxmlformats.org/officeDocument/2006/relationships/tags" Target="../tags/tag2.xml" /><Relationship Id="rId1" Type="http://schemas.openxmlformats.org/officeDocument/2006/relationships/tags" Target="../tags/tag1.xml" /><Relationship Id="rId6" Type="http://schemas.openxmlformats.org/officeDocument/2006/relationships/tags" Target="../tags/tag6.xml" /><Relationship Id="rId11" Type="http://schemas.openxmlformats.org/officeDocument/2006/relationships/tags" Target="../tags/tag11.xml" /><Relationship Id="rId5" Type="http://schemas.openxmlformats.org/officeDocument/2006/relationships/tags" Target="../tags/tag5.xml" /><Relationship Id="rId10" Type="http://schemas.openxmlformats.org/officeDocument/2006/relationships/tags" Target="../tags/tag10.xml" /><Relationship Id="rId4" Type="http://schemas.openxmlformats.org/officeDocument/2006/relationships/tags" Target="../tags/tag4.xml" /><Relationship Id="rId9" Type="http://schemas.openxmlformats.org/officeDocument/2006/relationships/tags" Target="../tags/tag9.xml" /><Relationship Id="rId14" Type="http://schemas.openxmlformats.org/officeDocument/2006/relationships/slideLayout" Target="../slideLayouts/slideLayout2.xml" /><Relationship Id="rId21" Type="http://schemas.openxmlformats.org/officeDocument/2006/relationships/image" Target="../media/image_e6b52ee4b91815f7.png" /><Relationship Id="rId22" Type="http://schemas.openxmlformats.org/officeDocument/2006/relationships/image" Target="../media/image_62e88db5bcdbea78.png" /><Relationship Id="rId23" Type="http://schemas.openxmlformats.org/officeDocument/2006/relationships/image" Target="../media/image_f78530d85e8b3478.png" /><Relationship Id="rId24" Type="http://schemas.openxmlformats.org/officeDocument/2006/relationships/image" Target="../media/image_640d00d8b6d9f33e.jpg" /><Relationship Id="rId25" Type="http://schemas.openxmlformats.org/officeDocument/2006/relationships/image" Target="../media/image_d7fd2fdb96a15cfe.jpg" />  <Relationship Id="rId26" Type="http://schemas.openxmlformats.org/officeDocument/2006/relationships/notesSlide" Target="../notesSlides/notesSlide1.xml" />
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文本框 130"/>
          <p:cNvSpPr/>
          <p:nvPr/>
        </p:nvSpPr>
        <p:spPr>
          <a:xfrm>
            <a:off x="809720" y="206978"/>
            <a:ext cx="1602296" cy="461677"/>
          </a:xfrm>
          <a:prstGeom prst="rect">
            <a:avLst/>
          </a:prstGeom>
          <a:noFill/>
          <a:ln>
            <a:noFill/>
          </a:ln>
        </p:spPr>
        <p:txBody>
          <a:bodyPr wrap="none" lIns="0" tIns="45744" rIns="0" bIns="0" anchor="t" anchorCtr="0">
            <a:noAutofit/>
          </a:bodyPr>
          <a:lstStyle/>
          <a:p>
            <a:pPr algn="ctr"/>
            <a:r>
              <a:rPr lang="zh-CN" sz="2400" spc="100" dirty="0">
                <a:solidFill>
                  <a:srgbClr val="1D399F"/>
                </a:solidFill>
                <a:latin typeface="汉仪雅酷黑 75W"/>
                <a:ea typeface="Microsoft YaHei"/>
                <a:cs typeface="汉仪雅酷黑 75W"/>
              </a:rPr>
              <a:t>生产模式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2527833" y="247411"/>
            <a:ext cx="1281318" cy="357706"/>
            <a:chOff x="2960757" y="247411"/>
            <a:chExt cx="1281318" cy="357706"/>
          </a:xfrm>
        </p:grpSpPr>
        <p:grpSp>
          <p:nvGrpSpPr>
            <p:cNvPr id="134" name="组合 133"/>
            <p:cNvGrpSpPr/>
            <p:nvPr/>
          </p:nvGrpSpPr>
          <p:grpSpPr>
            <a:xfrm>
              <a:off x="2960757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9" name="矩形: 对角圆角 138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0" name="文本框 103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项目背景</a:t>
                </a:r>
              </a:p>
            </p:txBody>
          </p:sp>
        </p:grpSp>
        <p:sp>
          <p:nvSpPr>
            <p:cNvPr id="137" name="rocket-hitting-target_66569"/>
            <p:cNvSpPr/>
            <p:nvPr/>
          </p:nvSpPr>
          <p:spPr>
            <a:xfrm>
              <a:off x="304769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875927" y="247411"/>
            <a:ext cx="1281318" cy="357706"/>
            <a:chOff x="2960756" y="247411"/>
            <a:chExt cx="1281318" cy="357706"/>
          </a:xfrm>
        </p:grpSpPr>
        <p:grpSp>
          <p:nvGrpSpPr>
            <p:cNvPr id="128" name="组合 12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0" name="矩形: 对角圆角 12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2" name="文本框 14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揭榜能力</a:t>
                </a:r>
              </a:p>
            </p:txBody>
          </p:sp>
        </p:grpSp>
        <p:sp>
          <p:nvSpPr>
            <p:cNvPr id="129" name="rocket-hitting-target_66569"/>
            <p:cNvSpPr/>
            <p:nvPr/>
          </p:nvSpPr>
          <p:spPr>
            <a:xfrm>
              <a:off x="3044770" y="351495"/>
              <a:ext cx="194645" cy="167813"/>
            </a:xfrm>
            <a:custGeom>
              <a:avLst/>
              <a:gdLst>
                <a:gd name="T0" fmla="*/ 2869 w 2936"/>
                <a:gd name="T1" fmla="*/ 1445 h 2535"/>
                <a:gd name="T2" fmla="*/ 2483 w 2936"/>
                <a:gd name="T3" fmla="*/ 1445 h 2535"/>
                <a:gd name="T4" fmla="*/ 2226 w 2936"/>
                <a:gd name="T5" fmla="*/ 999 h 2535"/>
                <a:gd name="T6" fmla="*/ 2169 w 2936"/>
                <a:gd name="T7" fmla="*/ 966 h 2535"/>
                <a:gd name="T8" fmla="*/ 1655 w 2936"/>
                <a:gd name="T9" fmla="*/ 966 h 2535"/>
                <a:gd name="T10" fmla="*/ 1418 w 2936"/>
                <a:gd name="T11" fmla="*/ 554 h 2535"/>
                <a:gd name="T12" fmla="*/ 1674 w 2936"/>
                <a:gd name="T13" fmla="*/ 109 h 2535"/>
                <a:gd name="T14" fmla="*/ 1650 w 2936"/>
                <a:gd name="T15" fmla="*/ 18 h 2535"/>
                <a:gd name="T16" fmla="*/ 1559 w 2936"/>
                <a:gd name="T17" fmla="*/ 43 h 2535"/>
                <a:gd name="T18" fmla="*/ 1302 w 2936"/>
                <a:gd name="T19" fmla="*/ 488 h 2535"/>
                <a:gd name="T20" fmla="*/ 827 w 2936"/>
                <a:gd name="T21" fmla="*/ 488 h 2535"/>
                <a:gd name="T22" fmla="*/ 570 w 2936"/>
                <a:gd name="T23" fmla="*/ 43 h 2535"/>
                <a:gd name="T24" fmla="*/ 479 w 2936"/>
                <a:gd name="T25" fmla="*/ 18 h 2535"/>
                <a:gd name="T26" fmla="*/ 454 w 2936"/>
                <a:gd name="T27" fmla="*/ 109 h 2535"/>
                <a:gd name="T28" fmla="*/ 711 w 2936"/>
                <a:gd name="T29" fmla="*/ 554 h 2535"/>
                <a:gd name="T30" fmla="*/ 454 w 2936"/>
                <a:gd name="T31" fmla="*/ 999 h 2535"/>
                <a:gd name="T32" fmla="*/ 454 w 2936"/>
                <a:gd name="T33" fmla="*/ 1066 h 2535"/>
                <a:gd name="T34" fmla="*/ 711 w 2936"/>
                <a:gd name="T35" fmla="*/ 1511 h 2535"/>
                <a:gd name="T36" fmla="*/ 473 w 2936"/>
                <a:gd name="T37" fmla="*/ 1923 h 2535"/>
                <a:gd name="T38" fmla="*/ 67 w 2936"/>
                <a:gd name="T39" fmla="*/ 1923 h 2535"/>
                <a:gd name="T40" fmla="*/ 0 w 2936"/>
                <a:gd name="T41" fmla="*/ 1990 h 2535"/>
                <a:gd name="T42" fmla="*/ 67 w 2936"/>
                <a:gd name="T43" fmla="*/ 2056 h 2535"/>
                <a:gd name="T44" fmla="*/ 473 w 2936"/>
                <a:gd name="T45" fmla="*/ 2056 h 2535"/>
                <a:gd name="T46" fmla="*/ 730 w 2936"/>
                <a:gd name="T47" fmla="*/ 2501 h 2535"/>
                <a:gd name="T48" fmla="*/ 788 w 2936"/>
                <a:gd name="T49" fmla="*/ 2535 h 2535"/>
                <a:gd name="T50" fmla="*/ 1341 w 2936"/>
                <a:gd name="T51" fmla="*/ 2535 h 2535"/>
                <a:gd name="T52" fmla="*/ 1398 w 2936"/>
                <a:gd name="T53" fmla="*/ 2501 h 2535"/>
                <a:gd name="T54" fmla="*/ 1655 w 2936"/>
                <a:gd name="T55" fmla="*/ 2056 h 2535"/>
                <a:gd name="T56" fmla="*/ 2169 w 2936"/>
                <a:gd name="T57" fmla="*/ 2056 h 2535"/>
                <a:gd name="T58" fmla="*/ 2226 w 2936"/>
                <a:gd name="T59" fmla="*/ 2023 h 2535"/>
                <a:gd name="T60" fmla="*/ 2483 w 2936"/>
                <a:gd name="T61" fmla="*/ 1578 h 2535"/>
                <a:gd name="T62" fmla="*/ 2869 w 2936"/>
                <a:gd name="T63" fmla="*/ 1578 h 2535"/>
                <a:gd name="T64" fmla="*/ 2936 w 2936"/>
                <a:gd name="T65" fmla="*/ 1511 h 2535"/>
                <a:gd name="T66" fmla="*/ 2869 w 2936"/>
                <a:gd name="T67" fmla="*/ 1445 h 2535"/>
                <a:gd name="T68" fmla="*/ 827 w 2936"/>
                <a:gd name="T69" fmla="*/ 621 h 2535"/>
                <a:gd name="T70" fmla="*/ 1302 w 2936"/>
                <a:gd name="T71" fmla="*/ 621 h 2535"/>
                <a:gd name="T72" fmla="*/ 1540 w 2936"/>
                <a:gd name="T73" fmla="*/ 1032 h 2535"/>
                <a:gd name="T74" fmla="*/ 1302 w 2936"/>
                <a:gd name="T75" fmla="*/ 1445 h 2535"/>
                <a:gd name="T76" fmla="*/ 827 w 2936"/>
                <a:gd name="T77" fmla="*/ 1445 h 2535"/>
                <a:gd name="T78" fmla="*/ 589 w 2936"/>
                <a:gd name="T79" fmla="*/ 1033 h 2535"/>
                <a:gd name="T80" fmla="*/ 827 w 2936"/>
                <a:gd name="T81" fmla="*/ 621 h 2535"/>
                <a:gd name="T82" fmla="*/ 1302 w 2936"/>
                <a:gd name="T83" fmla="*/ 2401 h 2535"/>
                <a:gd name="T84" fmla="*/ 827 w 2936"/>
                <a:gd name="T85" fmla="*/ 2401 h 2535"/>
                <a:gd name="T86" fmla="*/ 589 w 2936"/>
                <a:gd name="T87" fmla="*/ 1990 h 2535"/>
                <a:gd name="T88" fmla="*/ 827 w 2936"/>
                <a:gd name="T89" fmla="*/ 1578 h 2535"/>
                <a:gd name="T90" fmla="*/ 1302 w 2936"/>
                <a:gd name="T91" fmla="*/ 1578 h 2535"/>
                <a:gd name="T92" fmla="*/ 1540 w 2936"/>
                <a:gd name="T93" fmla="*/ 1990 h 2535"/>
                <a:gd name="T94" fmla="*/ 1302 w 2936"/>
                <a:gd name="T95" fmla="*/ 2401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36" h="2535">
                  <a:moveTo>
                    <a:pt x="2869" y="1445"/>
                  </a:moveTo>
                  <a:lnTo>
                    <a:pt x="2483" y="1445"/>
                  </a:lnTo>
                  <a:lnTo>
                    <a:pt x="2226" y="999"/>
                  </a:lnTo>
                  <a:cubicBezTo>
                    <a:pt x="2214" y="979"/>
                    <a:pt x="2192" y="966"/>
                    <a:pt x="2169" y="966"/>
                  </a:cubicBezTo>
                  <a:lnTo>
                    <a:pt x="1655" y="966"/>
                  </a:lnTo>
                  <a:lnTo>
                    <a:pt x="1418" y="554"/>
                  </a:lnTo>
                  <a:lnTo>
                    <a:pt x="1674" y="109"/>
                  </a:lnTo>
                  <a:cubicBezTo>
                    <a:pt x="1693" y="77"/>
                    <a:pt x="1682" y="37"/>
                    <a:pt x="1650" y="18"/>
                  </a:cubicBezTo>
                  <a:cubicBezTo>
                    <a:pt x="1618" y="0"/>
                    <a:pt x="1577" y="11"/>
                    <a:pt x="1559" y="43"/>
                  </a:cubicBezTo>
                  <a:lnTo>
                    <a:pt x="1302" y="488"/>
                  </a:lnTo>
                  <a:lnTo>
                    <a:pt x="827" y="488"/>
                  </a:lnTo>
                  <a:lnTo>
                    <a:pt x="570" y="43"/>
                  </a:lnTo>
                  <a:cubicBezTo>
                    <a:pt x="551" y="11"/>
                    <a:pt x="510" y="0"/>
                    <a:pt x="479" y="18"/>
                  </a:cubicBezTo>
                  <a:cubicBezTo>
                    <a:pt x="447" y="37"/>
                    <a:pt x="436" y="77"/>
                    <a:pt x="454" y="109"/>
                  </a:cubicBezTo>
                  <a:lnTo>
                    <a:pt x="711" y="554"/>
                  </a:lnTo>
                  <a:lnTo>
                    <a:pt x="454" y="999"/>
                  </a:lnTo>
                  <a:cubicBezTo>
                    <a:pt x="442" y="1020"/>
                    <a:pt x="442" y="1045"/>
                    <a:pt x="454" y="1066"/>
                  </a:cubicBezTo>
                  <a:lnTo>
                    <a:pt x="711" y="1511"/>
                  </a:lnTo>
                  <a:lnTo>
                    <a:pt x="473" y="1923"/>
                  </a:lnTo>
                  <a:lnTo>
                    <a:pt x="67" y="1923"/>
                  </a:lnTo>
                  <a:cubicBezTo>
                    <a:pt x="30" y="1923"/>
                    <a:pt x="0" y="1953"/>
                    <a:pt x="0" y="1990"/>
                  </a:cubicBezTo>
                  <a:cubicBezTo>
                    <a:pt x="0" y="2026"/>
                    <a:pt x="30" y="2056"/>
                    <a:pt x="67" y="2056"/>
                  </a:cubicBezTo>
                  <a:lnTo>
                    <a:pt x="473" y="2056"/>
                  </a:lnTo>
                  <a:lnTo>
                    <a:pt x="730" y="2501"/>
                  </a:lnTo>
                  <a:cubicBezTo>
                    <a:pt x="742" y="2522"/>
                    <a:pt x="764" y="2535"/>
                    <a:pt x="788" y="2535"/>
                  </a:cubicBezTo>
                  <a:lnTo>
                    <a:pt x="1341" y="2535"/>
                  </a:lnTo>
                  <a:cubicBezTo>
                    <a:pt x="1364" y="2535"/>
                    <a:pt x="1386" y="2522"/>
                    <a:pt x="1398" y="2501"/>
                  </a:cubicBezTo>
                  <a:lnTo>
                    <a:pt x="1655" y="2056"/>
                  </a:lnTo>
                  <a:lnTo>
                    <a:pt x="2169" y="2056"/>
                  </a:lnTo>
                  <a:cubicBezTo>
                    <a:pt x="2192" y="2056"/>
                    <a:pt x="2214" y="2044"/>
                    <a:pt x="2226" y="2023"/>
                  </a:cubicBezTo>
                  <a:lnTo>
                    <a:pt x="2483" y="1578"/>
                  </a:lnTo>
                  <a:lnTo>
                    <a:pt x="2869" y="1578"/>
                  </a:lnTo>
                  <a:cubicBezTo>
                    <a:pt x="2906" y="1578"/>
                    <a:pt x="2936" y="1548"/>
                    <a:pt x="2936" y="1511"/>
                  </a:cubicBezTo>
                  <a:cubicBezTo>
                    <a:pt x="2936" y="1474"/>
                    <a:pt x="2906" y="1445"/>
                    <a:pt x="2869" y="1445"/>
                  </a:cubicBezTo>
                  <a:close/>
                  <a:moveTo>
                    <a:pt x="827" y="621"/>
                  </a:moveTo>
                  <a:lnTo>
                    <a:pt x="1302" y="621"/>
                  </a:lnTo>
                  <a:lnTo>
                    <a:pt x="1540" y="1032"/>
                  </a:lnTo>
                  <a:lnTo>
                    <a:pt x="1302" y="1445"/>
                  </a:lnTo>
                  <a:lnTo>
                    <a:pt x="827" y="1445"/>
                  </a:lnTo>
                  <a:lnTo>
                    <a:pt x="589" y="1033"/>
                  </a:lnTo>
                  <a:lnTo>
                    <a:pt x="827" y="621"/>
                  </a:lnTo>
                  <a:close/>
                  <a:moveTo>
                    <a:pt x="1302" y="2401"/>
                  </a:moveTo>
                  <a:lnTo>
                    <a:pt x="827" y="2401"/>
                  </a:lnTo>
                  <a:lnTo>
                    <a:pt x="589" y="1990"/>
                  </a:lnTo>
                  <a:lnTo>
                    <a:pt x="827" y="1578"/>
                  </a:lnTo>
                  <a:lnTo>
                    <a:pt x="1302" y="1578"/>
                  </a:lnTo>
                  <a:lnTo>
                    <a:pt x="1540" y="1990"/>
                  </a:lnTo>
                  <a:lnTo>
                    <a:pt x="1302" y="240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6" name="组合 895"/>
          <p:cNvGrpSpPr/>
          <p:nvPr/>
        </p:nvGrpSpPr>
        <p:grpSpPr>
          <a:xfrm>
            <a:off x="6572117" y="247411"/>
            <a:ext cx="1281318" cy="357706"/>
            <a:chOff x="2960756" y="247411"/>
            <a:chExt cx="1281318" cy="357706"/>
          </a:xfrm>
        </p:grpSpPr>
        <p:grpSp>
          <p:nvGrpSpPr>
            <p:cNvPr id="918" name="组合 91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20" name="矩形: 对角圆角 91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1" name="文本框 15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商业模式</a:t>
                </a:r>
              </a:p>
            </p:txBody>
          </p:sp>
        </p:grpSp>
        <p:sp>
          <p:nvSpPr>
            <p:cNvPr id="919" name="rocket-hitting-target_66569"/>
            <p:cNvSpPr/>
            <p:nvPr/>
          </p:nvSpPr>
          <p:spPr>
            <a:xfrm>
              <a:off x="3047467" y="338080"/>
              <a:ext cx="189251" cy="194645"/>
            </a:xfrm>
            <a:custGeom>
              <a:avLst/>
              <a:gdLst>
                <a:gd name="T0" fmla="*/ 5493 w 6970"/>
                <a:gd name="T1" fmla="*/ 3347 h 7180"/>
                <a:gd name="T2" fmla="*/ 4316 w 6970"/>
                <a:gd name="T3" fmla="*/ 2776 h 7180"/>
                <a:gd name="T4" fmla="*/ 5024 w 6970"/>
                <a:gd name="T5" fmla="*/ 1687 h 7180"/>
                <a:gd name="T6" fmla="*/ 5024 w 6970"/>
                <a:gd name="T7" fmla="*/ 0 h 7180"/>
                <a:gd name="T8" fmla="*/ 4532 w 6970"/>
                <a:gd name="T9" fmla="*/ 1525 h 7180"/>
                <a:gd name="T10" fmla="*/ 3062 w 6970"/>
                <a:gd name="T11" fmla="*/ 3025 h 7180"/>
                <a:gd name="T12" fmla="*/ 1673 w 6970"/>
                <a:gd name="T13" fmla="*/ 3377 h 7180"/>
                <a:gd name="T14" fmla="*/ 0 w 6970"/>
                <a:gd name="T15" fmla="*/ 3518 h 7180"/>
                <a:gd name="T16" fmla="*/ 1668 w 6970"/>
                <a:gd name="T17" fmla="*/ 3696 h 7180"/>
                <a:gd name="T18" fmla="*/ 3150 w 6970"/>
                <a:gd name="T19" fmla="*/ 3971 h 7180"/>
                <a:gd name="T20" fmla="*/ 1686 w 6970"/>
                <a:gd name="T21" fmla="*/ 5684 h 7180"/>
                <a:gd name="T22" fmla="*/ 1686 w 6970"/>
                <a:gd name="T23" fmla="*/ 7180 h 7180"/>
                <a:gd name="T24" fmla="*/ 2204 w 6970"/>
                <a:gd name="T25" fmla="*/ 5894 h 7180"/>
                <a:gd name="T26" fmla="*/ 3985 w 6970"/>
                <a:gd name="T27" fmla="*/ 4252 h 7180"/>
                <a:gd name="T28" fmla="*/ 4312 w 6970"/>
                <a:gd name="T29" fmla="*/ 6177 h 7180"/>
                <a:gd name="T30" fmla="*/ 5999 w 6970"/>
                <a:gd name="T31" fmla="*/ 6177 h 7180"/>
                <a:gd name="T32" fmla="*/ 5010 w 6970"/>
                <a:gd name="T33" fmla="*/ 5348 h 7180"/>
                <a:gd name="T34" fmla="*/ 4533 w 6970"/>
                <a:gd name="T35" fmla="*/ 3844 h 7180"/>
                <a:gd name="T36" fmla="*/ 5490 w 6970"/>
                <a:gd name="T37" fmla="*/ 3666 h 7180"/>
                <a:gd name="T38" fmla="*/ 6970 w 6970"/>
                <a:gd name="T39" fmla="*/ 3511 h 7180"/>
                <a:gd name="T40" fmla="*/ 4500 w 6970"/>
                <a:gd name="T41" fmla="*/ 843 h 7180"/>
                <a:gd name="T42" fmla="*/ 5549 w 6970"/>
                <a:gd name="T43" fmla="*/ 843 h 7180"/>
                <a:gd name="T44" fmla="*/ 4500 w 6970"/>
                <a:gd name="T45" fmla="*/ 843 h 7180"/>
                <a:gd name="T46" fmla="*/ 319 w 6970"/>
                <a:gd name="T47" fmla="*/ 3518 h 7180"/>
                <a:gd name="T48" fmla="*/ 1369 w 6970"/>
                <a:gd name="T49" fmla="*/ 3518 h 7180"/>
                <a:gd name="T50" fmla="*/ 1686 w 6970"/>
                <a:gd name="T51" fmla="*/ 6861 h 7180"/>
                <a:gd name="T52" fmla="*/ 1686 w 6970"/>
                <a:gd name="T53" fmla="*/ 6003 h 7180"/>
                <a:gd name="T54" fmla="*/ 1686 w 6970"/>
                <a:gd name="T55" fmla="*/ 6861 h 7180"/>
                <a:gd name="T56" fmla="*/ 5680 w 6970"/>
                <a:gd name="T57" fmla="*/ 6177 h 7180"/>
                <a:gd name="T58" fmla="*/ 4631 w 6970"/>
                <a:gd name="T59" fmla="*/ 6177 h 7180"/>
                <a:gd name="T60" fmla="*/ 6222 w 6970"/>
                <a:gd name="T61" fmla="*/ 3940 h 7180"/>
                <a:gd name="T62" fmla="*/ 6222 w 6970"/>
                <a:gd name="T63" fmla="*/ 3081 h 7180"/>
                <a:gd name="T64" fmla="*/ 6222 w 6970"/>
                <a:gd name="T65" fmla="*/ 3940 h 7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970" h="7180">
                  <a:moveTo>
                    <a:pt x="6222" y="2762"/>
                  </a:moveTo>
                  <a:cubicBezTo>
                    <a:pt x="5866" y="2762"/>
                    <a:pt x="5568" y="3013"/>
                    <a:pt x="5493" y="3347"/>
                  </a:cubicBezTo>
                  <a:lnTo>
                    <a:pt x="4628" y="3322"/>
                  </a:lnTo>
                  <a:cubicBezTo>
                    <a:pt x="4598" y="3111"/>
                    <a:pt x="4491" y="2913"/>
                    <a:pt x="4316" y="2776"/>
                  </a:cubicBezTo>
                  <a:lnTo>
                    <a:pt x="4821" y="1659"/>
                  </a:lnTo>
                  <a:cubicBezTo>
                    <a:pt x="4886" y="1676"/>
                    <a:pt x="4954" y="1687"/>
                    <a:pt x="5024" y="1687"/>
                  </a:cubicBezTo>
                  <a:cubicBezTo>
                    <a:pt x="5489" y="1687"/>
                    <a:pt x="5867" y="1308"/>
                    <a:pt x="5867" y="843"/>
                  </a:cubicBezTo>
                  <a:cubicBezTo>
                    <a:pt x="5867" y="378"/>
                    <a:pt x="5489" y="0"/>
                    <a:pt x="5024" y="0"/>
                  </a:cubicBezTo>
                  <a:cubicBezTo>
                    <a:pt x="4559" y="0"/>
                    <a:pt x="4181" y="378"/>
                    <a:pt x="4181" y="843"/>
                  </a:cubicBezTo>
                  <a:cubicBezTo>
                    <a:pt x="4181" y="1124"/>
                    <a:pt x="4320" y="1372"/>
                    <a:pt x="4532" y="1525"/>
                  </a:cubicBezTo>
                  <a:lnTo>
                    <a:pt x="4033" y="2628"/>
                  </a:lnTo>
                  <a:cubicBezTo>
                    <a:pt x="3664" y="2520"/>
                    <a:pt x="3257" y="2675"/>
                    <a:pt x="3062" y="3025"/>
                  </a:cubicBezTo>
                  <a:cubicBezTo>
                    <a:pt x="2999" y="3137"/>
                    <a:pt x="2968" y="3257"/>
                    <a:pt x="2960" y="3377"/>
                  </a:cubicBezTo>
                  <a:lnTo>
                    <a:pt x="1673" y="3377"/>
                  </a:lnTo>
                  <a:cubicBezTo>
                    <a:pt x="1606" y="2979"/>
                    <a:pt x="1261" y="2675"/>
                    <a:pt x="844" y="2675"/>
                  </a:cubicBezTo>
                  <a:cubicBezTo>
                    <a:pt x="379" y="2675"/>
                    <a:pt x="0" y="3053"/>
                    <a:pt x="0" y="3518"/>
                  </a:cubicBezTo>
                  <a:cubicBezTo>
                    <a:pt x="0" y="3983"/>
                    <a:pt x="379" y="4361"/>
                    <a:pt x="844" y="4361"/>
                  </a:cubicBezTo>
                  <a:cubicBezTo>
                    <a:pt x="1248" y="4361"/>
                    <a:pt x="1585" y="4076"/>
                    <a:pt x="1668" y="3696"/>
                  </a:cubicBezTo>
                  <a:lnTo>
                    <a:pt x="3000" y="3696"/>
                  </a:lnTo>
                  <a:cubicBezTo>
                    <a:pt x="3032" y="3796"/>
                    <a:pt x="3083" y="3889"/>
                    <a:pt x="3150" y="3971"/>
                  </a:cubicBezTo>
                  <a:lnTo>
                    <a:pt x="1931" y="5729"/>
                  </a:lnTo>
                  <a:cubicBezTo>
                    <a:pt x="1854" y="5701"/>
                    <a:pt x="1772" y="5684"/>
                    <a:pt x="1686" y="5684"/>
                  </a:cubicBezTo>
                  <a:cubicBezTo>
                    <a:pt x="1273" y="5684"/>
                    <a:pt x="938" y="6019"/>
                    <a:pt x="938" y="6432"/>
                  </a:cubicBezTo>
                  <a:cubicBezTo>
                    <a:pt x="938" y="6844"/>
                    <a:pt x="1273" y="7180"/>
                    <a:pt x="1686" y="7180"/>
                  </a:cubicBezTo>
                  <a:cubicBezTo>
                    <a:pt x="2098" y="7180"/>
                    <a:pt x="2434" y="6844"/>
                    <a:pt x="2434" y="6432"/>
                  </a:cubicBezTo>
                  <a:cubicBezTo>
                    <a:pt x="2434" y="6221"/>
                    <a:pt x="2345" y="6031"/>
                    <a:pt x="2204" y="5894"/>
                  </a:cubicBezTo>
                  <a:lnTo>
                    <a:pt x="3397" y="4174"/>
                  </a:lnTo>
                  <a:cubicBezTo>
                    <a:pt x="3584" y="4275"/>
                    <a:pt x="3792" y="4297"/>
                    <a:pt x="3985" y="4252"/>
                  </a:cubicBezTo>
                  <a:lnTo>
                    <a:pt x="4708" y="5465"/>
                  </a:lnTo>
                  <a:cubicBezTo>
                    <a:pt x="4471" y="5614"/>
                    <a:pt x="4312" y="5877"/>
                    <a:pt x="4312" y="6177"/>
                  </a:cubicBezTo>
                  <a:cubicBezTo>
                    <a:pt x="4312" y="6642"/>
                    <a:pt x="4690" y="7021"/>
                    <a:pt x="5155" y="7021"/>
                  </a:cubicBezTo>
                  <a:cubicBezTo>
                    <a:pt x="5620" y="7021"/>
                    <a:pt x="5999" y="6642"/>
                    <a:pt x="5999" y="6177"/>
                  </a:cubicBezTo>
                  <a:cubicBezTo>
                    <a:pt x="5999" y="5712"/>
                    <a:pt x="5620" y="5334"/>
                    <a:pt x="5155" y="5334"/>
                  </a:cubicBezTo>
                  <a:cubicBezTo>
                    <a:pt x="5105" y="5334"/>
                    <a:pt x="5057" y="5340"/>
                    <a:pt x="5010" y="5348"/>
                  </a:cubicBezTo>
                  <a:lnTo>
                    <a:pt x="4278" y="4122"/>
                  </a:lnTo>
                  <a:cubicBezTo>
                    <a:pt x="4380" y="4051"/>
                    <a:pt x="4469" y="3959"/>
                    <a:pt x="4533" y="3844"/>
                  </a:cubicBezTo>
                  <a:cubicBezTo>
                    <a:pt x="4569" y="3779"/>
                    <a:pt x="4593" y="3710"/>
                    <a:pt x="4610" y="3641"/>
                  </a:cubicBezTo>
                  <a:lnTo>
                    <a:pt x="5490" y="3666"/>
                  </a:lnTo>
                  <a:cubicBezTo>
                    <a:pt x="5562" y="4004"/>
                    <a:pt x="5863" y="4259"/>
                    <a:pt x="6222" y="4259"/>
                  </a:cubicBezTo>
                  <a:cubicBezTo>
                    <a:pt x="6634" y="4259"/>
                    <a:pt x="6970" y="3923"/>
                    <a:pt x="6970" y="3511"/>
                  </a:cubicBezTo>
                  <a:cubicBezTo>
                    <a:pt x="6970" y="3098"/>
                    <a:pt x="6634" y="2762"/>
                    <a:pt x="6222" y="2762"/>
                  </a:cubicBezTo>
                  <a:close/>
                  <a:moveTo>
                    <a:pt x="4500" y="843"/>
                  </a:moveTo>
                  <a:cubicBezTo>
                    <a:pt x="4500" y="554"/>
                    <a:pt x="4735" y="319"/>
                    <a:pt x="5024" y="319"/>
                  </a:cubicBezTo>
                  <a:cubicBezTo>
                    <a:pt x="5314" y="319"/>
                    <a:pt x="5549" y="554"/>
                    <a:pt x="5549" y="843"/>
                  </a:cubicBezTo>
                  <a:cubicBezTo>
                    <a:pt x="5549" y="1133"/>
                    <a:pt x="5313" y="1368"/>
                    <a:pt x="5024" y="1368"/>
                  </a:cubicBezTo>
                  <a:cubicBezTo>
                    <a:pt x="4735" y="1368"/>
                    <a:pt x="4500" y="1133"/>
                    <a:pt x="4500" y="843"/>
                  </a:cubicBezTo>
                  <a:close/>
                  <a:moveTo>
                    <a:pt x="844" y="4042"/>
                  </a:moveTo>
                  <a:cubicBezTo>
                    <a:pt x="555" y="4042"/>
                    <a:pt x="319" y="3807"/>
                    <a:pt x="319" y="3518"/>
                  </a:cubicBezTo>
                  <a:cubicBezTo>
                    <a:pt x="319" y="3229"/>
                    <a:pt x="555" y="2993"/>
                    <a:pt x="844" y="2993"/>
                  </a:cubicBezTo>
                  <a:cubicBezTo>
                    <a:pt x="1133" y="2993"/>
                    <a:pt x="1369" y="3229"/>
                    <a:pt x="1369" y="3518"/>
                  </a:cubicBezTo>
                  <a:cubicBezTo>
                    <a:pt x="1369" y="3807"/>
                    <a:pt x="1133" y="4042"/>
                    <a:pt x="844" y="4042"/>
                  </a:cubicBezTo>
                  <a:close/>
                  <a:moveTo>
                    <a:pt x="1686" y="6861"/>
                  </a:moveTo>
                  <a:cubicBezTo>
                    <a:pt x="1449" y="6861"/>
                    <a:pt x="1257" y="6669"/>
                    <a:pt x="1257" y="6432"/>
                  </a:cubicBezTo>
                  <a:cubicBezTo>
                    <a:pt x="1257" y="6195"/>
                    <a:pt x="1449" y="6003"/>
                    <a:pt x="1686" y="6003"/>
                  </a:cubicBezTo>
                  <a:cubicBezTo>
                    <a:pt x="1923" y="6003"/>
                    <a:pt x="2115" y="6195"/>
                    <a:pt x="2115" y="6432"/>
                  </a:cubicBezTo>
                  <a:cubicBezTo>
                    <a:pt x="2115" y="6669"/>
                    <a:pt x="1923" y="6861"/>
                    <a:pt x="1686" y="6861"/>
                  </a:cubicBezTo>
                  <a:close/>
                  <a:moveTo>
                    <a:pt x="5155" y="5653"/>
                  </a:moveTo>
                  <a:cubicBezTo>
                    <a:pt x="5444" y="5653"/>
                    <a:pt x="5680" y="5888"/>
                    <a:pt x="5680" y="6177"/>
                  </a:cubicBezTo>
                  <a:cubicBezTo>
                    <a:pt x="5680" y="6467"/>
                    <a:pt x="5444" y="6702"/>
                    <a:pt x="5155" y="6702"/>
                  </a:cubicBezTo>
                  <a:cubicBezTo>
                    <a:pt x="4866" y="6702"/>
                    <a:pt x="4631" y="6467"/>
                    <a:pt x="4631" y="6177"/>
                  </a:cubicBezTo>
                  <a:cubicBezTo>
                    <a:pt x="4631" y="5888"/>
                    <a:pt x="4866" y="5653"/>
                    <a:pt x="5155" y="5653"/>
                  </a:cubicBezTo>
                  <a:close/>
                  <a:moveTo>
                    <a:pt x="6222" y="3940"/>
                  </a:moveTo>
                  <a:cubicBezTo>
                    <a:pt x="5985" y="3940"/>
                    <a:pt x="5793" y="3747"/>
                    <a:pt x="5793" y="3511"/>
                  </a:cubicBezTo>
                  <a:cubicBezTo>
                    <a:pt x="5793" y="3274"/>
                    <a:pt x="5985" y="3081"/>
                    <a:pt x="6222" y="3081"/>
                  </a:cubicBezTo>
                  <a:cubicBezTo>
                    <a:pt x="6458" y="3081"/>
                    <a:pt x="6651" y="3274"/>
                    <a:pt x="6651" y="3511"/>
                  </a:cubicBezTo>
                  <a:cubicBezTo>
                    <a:pt x="6651" y="3747"/>
                    <a:pt x="6458" y="3940"/>
                    <a:pt x="6222" y="394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7" name="组合 896"/>
          <p:cNvGrpSpPr/>
          <p:nvPr/>
        </p:nvGrpSpPr>
        <p:grpSpPr>
          <a:xfrm>
            <a:off x="7920212" y="247411"/>
            <a:ext cx="1281318" cy="357706"/>
            <a:chOff x="2960756" y="247411"/>
            <a:chExt cx="1281318" cy="357706"/>
          </a:xfrm>
        </p:grpSpPr>
        <p:grpSp>
          <p:nvGrpSpPr>
            <p:cNvPr id="914" name="组合 913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6" name="矩形: 对角圆角 915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7" name="文本框 16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团队介绍</a:t>
                </a:r>
              </a:p>
            </p:txBody>
          </p:sp>
        </p:grpSp>
        <p:sp>
          <p:nvSpPr>
            <p:cNvPr id="915" name="rocket-hitting-target_66569"/>
            <p:cNvSpPr/>
            <p:nvPr/>
          </p:nvSpPr>
          <p:spPr>
            <a:xfrm>
              <a:off x="3044770" y="350986"/>
              <a:ext cx="194645" cy="168830"/>
            </a:xfrm>
            <a:custGeom>
              <a:avLst/>
              <a:gdLst>
                <a:gd name="connsiteX0" fmla="*/ 517388 w 607639"/>
                <a:gd name="connsiteY0" fmla="*/ 456750 h 527053"/>
                <a:gd name="connsiteX1" fmla="*/ 470838 w 607639"/>
                <a:gd name="connsiteY1" fmla="*/ 487502 h 527053"/>
                <a:gd name="connsiteX2" fmla="*/ 563938 w 607639"/>
                <a:gd name="connsiteY2" fmla="*/ 487502 h 527053"/>
                <a:gd name="connsiteX3" fmla="*/ 517388 w 607639"/>
                <a:gd name="connsiteY3" fmla="*/ 456750 h 527053"/>
                <a:gd name="connsiteX4" fmla="*/ 303775 w 607639"/>
                <a:gd name="connsiteY4" fmla="*/ 456750 h 527053"/>
                <a:gd name="connsiteX5" fmla="*/ 257225 w 607639"/>
                <a:gd name="connsiteY5" fmla="*/ 487502 h 527053"/>
                <a:gd name="connsiteX6" fmla="*/ 350325 w 607639"/>
                <a:gd name="connsiteY6" fmla="*/ 487502 h 527053"/>
                <a:gd name="connsiteX7" fmla="*/ 303775 w 607639"/>
                <a:gd name="connsiteY7" fmla="*/ 456750 h 527053"/>
                <a:gd name="connsiteX8" fmla="*/ 90252 w 607639"/>
                <a:gd name="connsiteY8" fmla="*/ 456750 h 527053"/>
                <a:gd name="connsiteX9" fmla="*/ 43702 w 607639"/>
                <a:gd name="connsiteY9" fmla="*/ 487502 h 527053"/>
                <a:gd name="connsiteX10" fmla="*/ 136801 w 607639"/>
                <a:gd name="connsiteY10" fmla="*/ 487502 h 527053"/>
                <a:gd name="connsiteX11" fmla="*/ 90252 w 607639"/>
                <a:gd name="connsiteY11" fmla="*/ 456750 h 527053"/>
                <a:gd name="connsiteX12" fmla="*/ 517388 w 607639"/>
                <a:gd name="connsiteY12" fmla="*/ 331608 h 527053"/>
                <a:gd name="connsiteX13" fmla="*/ 506529 w 607639"/>
                <a:gd name="connsiteY13" fmla="*/ 342451 h 527053"/>
                <a:gd name="connsiteX14" fmla="*/ 517388 w 607639"/>
                <a:gd name="connsiteY14" fmla="*/ 353383 h 527053"/>
                <a:gd name="connsiteX15" fmla="*/ 528247 w 607639"/>
                <a:gd name="connsiteY15" fmla="*/ 342451 h 527053"/>
                <a:gd name="connsiteX16" fmla="*/ 517388 w 607639"/>
                <a:gd name="connsiteY16" fmla="*/ 331608 h 527053"/>
                <a:gd name="connsiteX17" fmla="*/ 90252 w 607639"/>
                <a:gd name="connsiteY17" fmla="*/ 331608 h 527053"/>
                <a:gd name="connsiteX18" fmla="*/ 79304 w 607639"/>
                <a:gd name="connsiteY18" fmla="*/ 342451 h 527053"/>
                <a:gd name="connsiteX19" fmla="*/ 90252 w 607639"/>
                <a:gd name="connsiteY19" fmla="*/ 353383 h 527053"/>
                <a:gd name="connsiteX20" fmla="*/ 101110 w 607639"/>
                <a:gd name="connsiteY20" fmla="*/ 342451 h 527053"/>
                <a:gd name="connsiteX21" fmla="*/ 90252 w 607639"/>
                <a:gd name="connsiteY21" fmla="*/ 331608 h 527053"/>
                <a:gd name="connsiteX22" fmla="*/ 303784 w 607639"/>
                <a:gd name="connsiteY22" fmla="*/ 112519 h 527053"/>
                <a:gd name="connsiteX23" fmla="*/ 260352 w 607639"/>
                <a:gd name="connsiteY23" fmla="*/ 155985 h 527053"/>
                <a:gd name="connsiteX24" fmla="*/ 303784 w 607639"/>
                <a:gd name="connsiteY24" fmla="*/ 199451 h 527053"/>
                <a:gd name="connsiteX25" fmla="*/ 347305 w 607639"/>
                <a:gd name="connsiteY25" fmla="*/ 155985 h 527053"/>
                <a:gd name="connsiteX26" fmla="*/ 303784 w 607639"/>
                <a:gd name="connsiteY26" fmla="*/ 112519 h 527053"/>
                <a:gd name="connsiteX27" fmla="*/ 303784 w 607639"/>
                <a:gd name="connsiteY27" fmla="*/ 72965 h 527053"/>
                <a:gd name="connsiteX28" fmla="*/ 386910 w 607639"/>
                <a:gd name="connsiteY28" fmla="*/ 155985 h 527053"/>
                <a:gd name="connsiteX29" fmla="*/ 303784 w 607639"/>
                <a:gd name="connsiteY29" fmla="*/ 239005 h 527053"/>
                <a:gd name="connsiteX30" fmla="*/ 220658 w 607639"/>
                <a:gd name="connsiteY30" fmla="*/ 155985 h 527053"/>
                <a:gd name="connsiteX31" fmla="*/ 303784 w 607639"/>
                <a:gd name="connsiteY31" fmla="*/ 72965 h 527053"/>
                <a:gd name="connsiteX32" fmla="*/ 303775 w 607639"/>
                <a:gd name="connsiteY32" fmla="*/ 39640 h 527053"/>
                <a:gd name="connsiteX33" fmla="*/ 187267 w 607639"/>
                <a:gd name="connsiteY33" fmla="*/ 155983 h 527053"/>
                <a:gd name="connsiteX34" fmla="*/ 303775 w 607639"/>
                <a:gd name="connsiteY34" fmla="*/ 272326 h 527053"/>
                <a:gd name="connsiteX35" fmla="*/ 420283 w 607639"/>
                <a:gd name="connsiteY35" fmla="*/ 155983 h 527053"/>
                <a:gd name="connsiteX36" fmla="*/ 303775 w 607639"/>
                <a:gd name="connsiteY36" fmla="*/ 39640 h 527053"/>
                <a:gd name="connsiteX37" fmla="*/ 303775 w 607639"/>
                <a:gd name="connsiteY37" fmla="*/ 0 h 527053"/>
                <a:gd name="connsiteX38" fmla="*/ 459979 w 607639"/>
                <a:gd name="connsiteY38" fmla="*/ 155983 h 527053"/>
                <a:gd name="connsiteX39" fmla="*/ 426246 w 607639"/>
                <a:gd name="connsiteY39" fmla="*/ 252594 h 527053"/>
                <a:gd name="connsiteX40" fmla="*/ 500922 w 607639"/>
                <a:gd name="connsiteY40" fmla="*/ 294812 h 527053"/>
                <a:gd name="connsiteX41" fmla="*/ 517388 w 607639"/>
                <a:gd name="connsiteY41" fmla="*/ 292057 h 527053"/>
                <a:gd name="connsiteX42" fmla="*/ 567943 w 607639"/>
                <a:gd name="connsiteY42" fmla="*/ 342451 h 527053"/>
                <a:gd name="connsiteX43" fmla="*/ 537236 w 607639"/>
                <a:gd name="connsiteY43" fmla="*/ 388935 h 527053"/>
                <a:gd name="connsiteX44" fmla="*/ 537236 w 607639"/>
                <a:gd name="connsiteY44" fmla="*/ 419420 h 527053"/>
                <a:gd name="connsiteX45" fmla="*/ 607639 w 607639"/>
                <a:gd name="connsiteY45" fmla="*/ 507322 h 527053"/>
                <a:gd name="connsiteX46" fmla="*/ 607639 w 607639"/>
                <a:gd name="connsiteY46" fmla="*/ 527053 h 527053"/>
                <a:gd name="connsiteX47" fmla="*/ 427137 w 607639"/>
                <a:gd name="connsiteY47" fmla="*/ 527053 h 527053"/>
                <a:gd name="connsiteX48" fmla="*/ 427137 w 607639"/>
                <a:gd name="connsiteY48" fmla="*/ 507322 h 527053"/>
                <a:gd name="connsiteX49" fmla="*/ 497540 w 607639"/>
                <a:gd name="connsiteY49" fmla="*/ 419420 h 527053"/>
                <a:gd name="connsiteX50" fmla="*/ 497540 w 607639"/>
                <a:gd name="connsiteY50" fmla="*/ 388935 h 527053"/>
                <a:gd name="connsiteX51" fmla="*/ 466833 w 607639"/>
                <a:gd name="connsiteY51" fmla="*/ 342451 h 527053"/>
                <a:gd name="connsiteX52" fmla="*/ 470660 w 607639"/>
                <a:gd name="connsiteY52" fmla="*/ 323253 h 527053"/>
                <a:gd name="connsiteX53" fmla="*/ 396608 w 607639"/>
                <a:gd name="connsiteY53" fmla="*/ 281302 h 527053"/>
                <a:gd name="connsiteX54" fmla="*/ 323623 w 607639"/>
                <a:gd name="connsiteY54" fmla="*/ 310632 h 527053"/>
                <a:gd name="connsiteX55" fmla="*/ 323623 w 607639"/>
                <a:gd name="connsiteY55" fmla="*/ 419420 h 527053"/>
                <a:gd name="connsiteX56" fmla="*/ 394027 w 607639"/>
                <a:gd name="connsiteY56" fmla="*/ 507322 h 527053"/>
                <a:gd name="connsiteX57" fmla="*/ 394027 w 607639"/>
                <a:gd name="connsiteY57" fmla="*/ 527053 h 527053"/>
                <a:gd name="connsiteX58" fmla="*/ 213613 w 607639"/>
                <a:gd name="connsiteY58" fmla="*/ 527053 h 527053"/>
                <a:gd name="connsiteX59" fmla="*/ 213613 w 607639"/>
                <a:gd name="connsiteY59" fmla="*/ 507322 h 527053"/>
                <a:gd name="connsiteX60" fmla="*/ 284016 w 607639"/>
                <a:gd name="connsiteY60" fmla="*/ 419420 h 527053"/>
                <a:gd name="connsiteX61" fmla="*/ 284016 w 607639"/>
                <a:gd name="connsiteY61" fmla="*/ 310632 h 527053"/>
                <a:gd name="connsiteX62" fmla="*/ 211032 w 607639"/>
                <a:gd name="connsiteY62" fmla="*/ 281302 h 527053"/>
                <a:gd name="connsiteX63" fmla="*/ 136890 w 607639"/>
                <a:gd name="connsiteY63" fmla="*/ 323253 h 527053"/>
                <a:gd name="connsiteX64" fmla="*/ 140718 w 607639"/>
                <a:gd name="connsiteY64" fmla="*/ 342451 h 527053"/>
                <a:gd name="connsiteX65" fmla="*/ 110011 w 607639"/>
                <a:gd name="connsiteY65" fmla="*/ 388935 h 527053"/>
                <a:gd name="connsiteX66" fmla="*/ 110011 w 607639"/>
                <a:gd name="connsiteY66" fmla="*/ 419420 h 527053"/>
                <a:gd name="connsiteX67" fmla="*/ 180414 w 607639"/>
                <a:gd name="connsiteY67" fmla="*/ 507322 h 527053"/>
                <a:gd name="connsiteX68" fmla="*/ 180414 w 607639"/>
                <a:gd name="connsiteY68" fmla="*/ 527053 h 527053"/>
                <a:gd name="connsiteX69" fmla="*/ 0 w 607639"/>
                <a:gd name="connsiteY69" fmla="*/ 527053 h 527053"/>
                <a:gd name="connsiteX70" fmla="*/ 0 w 607639"/>
                <a:gd name="connsiteY70" fmla="*/ 507322 h 527053"/>
                <a:gd name="connsiteX71" fmla="*/ 70403 w 607639"/>
                <a:gd name="connsiteY71" fmla="*/ 419420 h 527053"/>
                <a:gd name="connsiteX72" fmla="*/ 70403 w 607639"/>
                <a:gd name="connsiteY72" fmla="*/ 388935 h 527053"/>
                <a:gd name="connsiteX73" fmla="*/ 39697 w 607639"/>
                <a:gd name="connsiteY73" fmla="*/ 342451 h 527053"/>
                <a:gd name="connsiteX74" fmla="*/ 90252 w 607639"/>
                <a:gd name="connsiteY74" fmla="*/ 292057 h 527053"/>
                <a:gd name="connsiteX75" fmla="*/ 106718 w 607639"/>
                <a:gd name="connsiteY75" fmla="*/ 294812 h 527053"/>
                <a:gd name="connsiteX76" fmla="*/ 181304 w 607639"/>
                <a:gd name="connsiteY76" fmla="*/ 252594 h 527053"/>
                <a:gd name="connsiteX77" fmla="*/ 147660 w 607639"/>
                <a:gd name="connsiteY77" fmla="*/ 155983 h 527053"/>
                <a:gd name="connsiteX78" fmla="*/ 303775 w 607639"/>
                <a:gd name="connsiteY78" fmla="*/ 0 h 52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7639" h="527053">
                  <a:moveTo>
                    <a:pt x="517388" y="456750"/>
                  </a:moveTo>
                  <a:cubicBezTo>
                    <a:pt x="496561" y="456750"/>
                    <a:pt x="478582" y="469459"/>
                    <a:pt x="470838" y="487502"/>
                  </a:cubicBezTo>
                  <a:lnTo>
                    <a:pt x="563938" y="487502"/>
                  </a:lnTo>
                  <a:cubicBezTo>
                    <a:pt x="556194" y="469459"/>
                    <a:pt x="538215" y="456750"/>
                    <a:pt x="517388" y="456750"/>
                  </a:cubicBezTo>
                  <a:close/>
                  <a:moveTo>
                    <a:pt x="303775" y="456750"/>
                  </a:moveTo>
                  <a:cubicBezTo>
                    <a:pt x="282948" y="456750"/>
                    <a:pt x="264969" y="469459"/>
                    <a:pt x="257225" y="487502"/>
                  </a:cubicBezTo>
                  <a:lnTo>
                    <a:pt x="350325" y="487502"/>
                  </a:lnTo>
                  <a:cubicBezTo>
                    <a:pt x="342671" y="469459"/>
                    <a:pt x="324691" y="456750"/>
                    <a:pt x="303775" y="456750"/>
                  </a:cubicBezTo>
                  <a:close/>
                  <a:moveTo>
                    <a:pt x="90252" y="456750"/>
                  </a:moveTo>
                  <a:cubicBezTo>
                    <a:pt x="69335" y="456750"/>
                    <a:pt x="51356" y="469459"/>
                    <a:pt x="43702" y="487502"/>
                  </a:cubicBezTo>
                  <a:lnTo>
                    <a:pt x="136801" y="487502"/>
                  </a:lnTo>
                  <a:cubicBezTo>
                    <a:pt x="129058" y="469459"/>
                    <a:pt x="111079" y="456750"/>
                    <a:pt x="90252" y="456750"/>
                  </a:cubicBezTo>
                  <a:close/>
                  <a:moveTo>
                    <a:pt x="517388" y="331608"/>
                  </a:moveTo>
                  <a:cubicBezTo>
                    <a:pt x="511425" y="331608"/>
                    <a:pt x="506529" y="336496"/>
                    <a:pt x="506529" y="342451"/>
                  </a:cubicBezTo>
                  <a:cubicBezTo>
                    <a:pt x="506529" y="348495"/>
                    <a:pt x="511425" y="353383"/>
                    <a:pt x="517388" y="353383"/>
                  </a:cubicBezTo>
                  <a:cubicBezTo>
                    <a:pt x="523351" y="353383"/>
                    <a:pt x="528247" y="348495"/>
                    <a:pt x="528247" y="342451"/>
                  </a:cubicBezTo>
                  <a:cubicBezTo>
                    <a:pt x="528247" y="336496"/>
                    <a:pt x="523351" y="331608"/>
                    <a:pt x="517388" y="331608"/>
                  </a:cubicBezTo>
                  <a:close/>
                  <a:moveTo>
                    <a:pt x="90252" y="331608"/>
                  </a:moveTo>
                  <a:cubicBezTo>
                    <a:pt x="84199" y="331608"/>
                    <a:pt x="79304" y="336496"/>
                    <a:pt x="79304" y="342451"/>
                  </a:cubicBezTo>
                  <a:cubicBezTo>
                    <a:pt x="79304" y="348495"/>
                    <a:pt x="84199" y="353383"/>
                    <a:pt x="90252" y="353383"/>
                  </a:cubicBezTo>
                  <a:cubicBezTo>
                    <a:pt x="96215" y="353383"/>
                    <a:pt x="101110" y="348495"/>
                    <a:pt x="101110" y="342451"/>
                  </a:cubicBezTo>
                  <a:cubicBezTo>
                    <a:pt x="101110" y="336496"/>
                    <a:pt x="96215" y="331608"/>
                    <a:pt x="90252" y="331608"/>
                  </a:cubicBezTo>
                  <a:close/>
                  <a:moveTo>
                    <a:pt x="303784" y="112519"/>
                  </a:moveTo>
                  <a:cubicBezTo>
                    <a:pt x="279843" y="112519"/>
                    <a:pt x="260352" y="131986"/>
                    <a:pt x="260352" y="155985"/>
                  </a:cubicBezTo>
                  <a:cubicBezTo>
                    <a:pt x="260352" y="179895"/>
                    <a:pt x="279843" y="199451"/>
                    <a:pt x="303784" y="199451"/>
                  </a:cubicBezTo>
                  <a:cubicBezTo>
                    <a:pt x="327814" y="199451"/>
                    <a:pt x="347305" y="179895"/>
                    <a:pt x="347305" y="155985"/>
                  </a:cubicBezTo>
                  <a:cubicBezTo>
                    <a:pt x="347305" y="131986"/>
                    <a:pt x="327814" y="112519"/>
                    <a:pt x="303784" y="112519"/>
                  </a:cubicBezTo>
                  <a:close/>
                  <a:moveTo>
                    <a:pt x="303784" y="72965"/>
                  </a:moveTo>
                  <a:cubicBezTo>
                    <a:pt x="349619" y="72965"/>
                    <a:pt x="386910" y="110208"/>
                    <a:pt x="386910" y="155985"/>
                  </a:cubicBezTo>
                  <a:cubicBezTo>
                    <a:pt x="386910" y="201762"/>
                    <a:pt x="349619" y="239005"/>
                    <a:pt x="303784" y="239005"/>
                  </a:cubicBezTo>
                  <a:cubicBezTo>
                    <a:pt x="257949" y="239005"/>
                    <a:pt x="220658" y="201762"/>
                    <a:pt x="220658" y="155985"/>
                  </a:cubicBezTo>
                  <a:cubicBezTo>
                    <a:pt x="220658" y="110208"/>
                    <a:pt x="257949" y="72965"/>
                    <a:pt x="303784" y="72965"/>
                  </a:cubicBezTo>
                  <a:close/>
                  <a:moveTo>
                    <a:pt x="303775" y="39640"/>
                  </a:moveTo>
                  <a:cubicBezTo>
                    <a:pt x="239513" y="39640"/>
                    <a:pt x="187267" y="91812"/>
                    <a:pt x="187267" y="155983"/>
                  </a:cubicBezTo>
                  <a:cubicBezTo>
                    <a:pt x="187267" y="220153"/>
                    <a:pt x="239513" y="272326"/>
                    <a:pt x="303775" y="272326"/>
                  </a:cubicBezTo>
                  <a:cubicBezTo>
                    <a:pt x="368037" y="272326"/>
                    <a:pt x="420283" y="220153"/>
                    <a:pt x="420283" y="155983"/>
                  </a:cubicBezTo>
                  <a:cubicBezTo>
                    <a:pt x="420283" y="91812"/>
                    <a:pt x="368037" y="39640"/>
                    <a:pt x="303775" y="39640"/>
                  </a:cubicBezTo>
                  <a:close/>
                  <a:moveTo>
                    <a:pt x="303775" y="0"/>
                  </a:moveTo>
                  <a:cubicBezTo>
                    <a:pt x="389932" y="0"/>
                    <a:pt x="459979" y="69948"/>
                    <a:pt x="459979" y="155983"/>
                  </a:cubicBezTo>
                  <a:cubicBezTo>
                    <a:pt x="459979" y="192423"/>
                    <a:pt x="447341" y="226020"/>
                    <a:pt x="426246" y="252594"/>
                  </a:cubicBezTo>
                  <a:lnTo>
                    <a:pt x="500922" y="294812"/>
                  </a:lnTo>
                  <a:cubicBezTo>
                    <a:pt x="506084" y="293034"/>
                    <a:pt x="511603" y="292057"/>
                    <a:pt x="517388" y="292057"/>
                  </a:cubicBezTo>
                  <a:cubicBezTo>
                    <a:pt x="545247" y="292057"/>
                    <a:pt x="567943" y="314632"/>
                    <a:pt x="567943" y="342451"/>
                  </a:cubicBezTo>
                  <a:cubicBezTo>
                    <a:pt x="567943" y="363249"/>
                    <a:pt x="555215" y="381202"/>
                    <a:pt x="537236" y="388935"/>
                  </a:cubicBezTo>
                  <a:lnTo>
                    <a:pt x="537236" y="419420"/>
                  </a:lnTo>
                  <a:cubicBezTo>
                    <a:pt x="577466" y="428486"/>
                    <a:pt x="607639" y="464393"/>
                    <a:pt x="607639" y="507322"/>
                  </a:cubicBezTo>
                  <a:lnTo>
                    <a:pt x="607639" y="527053"/>
                  </a:lnTo>
                  <a:lnTo>
                    <a:pt x="427137" y="527053"/>
                  </a:lnTo>
                  <a:lnTo>
                    <a:pt x="427137" y="507322"/>
                  </a:lnTo>
                  <a:cubicBezTo>
                    <a:pt x="427137" y="464393"/>
                    <a:pt x="457309" y="428486"/>
                    <a:pt x="497540" y="419420"/>
                  </a:cubicBezTo>
                  <a:lnTo>
                    <a:pt x="497540" y="388935"/>
                  </a:lnTo>
                  <a:cubicBezTo>
                    <a:pt x="479561" y="381202"/>
                    <a:pt x="466833" y="363249"/>
                    <a:pt x="466833" y="342451"/>
                  </a:cubicBezTo>
                  <a:cubicBezTo>
                    <a:pt x="466833" y="335696"/>
                    <a:pt x="468257" y="329208"/>
                    <a:pt x="470660" y="323253"/>
                  </a:cubicBezTo>
                  <a:lnTo>
                    <a:pt x="396608" y="281302"/>
                  </a:lnTo>
                  <a:cubicBezTo>
                    <a:pt x="375691" y="296767"/>
                    <a:pt x="350681" y="307166"/>
                    <a:pt x="323623" y="310632"/>
                  </a:cubicBezTo>
                  <a:lnTo>
                    <a:pt x="323623" y="419420"/>
                  </a:lnTo>
                  <a:cubicBezTo>
                    <a:pt x="363854" y="428486"/>
                    <a:pt x="394027" y="464393"/>
                    <a:pt x="394027" y="507322"/>
                  </a:cubicBezTo>
                  <a:lnTo>
                    <a:pt x="394027" y="527053"/>
                  </a:lnTo>
                  <a:lnTo>
                    <a:pt x="213613" y="527053"/>
                  </a:lnTo>
                  <a:lnTo>
                    <a:pt x="213613" y="507322"/>
                  </a:lnTo>
                  <a:cubicBezTo>
                    <a:pt x="213613" y="464393"/>
                    <a:pt x="243786" y="428486"/>
                    <a:pt x="284016" y="419420"/>
                  </a:cubicBezTo>
                  <a:lnTo>
                    <a:pt x="284016" y="310632"/>
                  </a:lnTo>
                  <a:cubicBezTo>
                    <a:pt x="256869" y="307166"/>
                    <a:pt x="231948" y="296767"/>
                    <a:pt x="211032" y="281302"/>
                  </a:cubicBezTo>
                  <a:lnTo>
                    <a:pt x="136890" y="323253"/>
                  </a:lnTo>
                  <a:cubicBezTo>
                    <a:pt x="139382" y="329208"/>
                    <a:pt x="140718" y="335696"/>
                    <a:pt x="140718" y="342451"/>
                  </a:cubicBezTo>
                  <a:cubicBezTo>
                    <a:pt x="140718" y="363249"/>
                    <a:pt x="128079" y="381202"/>
                    <a:pt x="110011" y="388935"/>
                  </a:cubicBezTo>
                  <a:lnTo>
                    <a:pt x="110011" y="419420"/>
                  </a:lnTo>
                  <a:cubicBezTo>
                    <a:pt x="150241" y="428486"/>
                    <a:pt x="180414" y="464393"/>
                    <a:pt x="180414" y="507322"/>
                  </a:cubicBezTo>
                  <a:lnTo>
                    <a:pt x="180414" y="527053"/>
                  </a:lnTo>
                  <a:lnTo>
                    <a:pt x="0" y="527053"/>
                  </a:lnTo>
                  <a:lnTo>
                    <a:pt x="0" y="507322"/>
                  </a:lnTo>
                  <a:cubicBezTo>
                    <a:pt x="0" y="464393"/>
                    <a:pt x="30173" y="428486"/>
                    <a:pt x="70403" y="419420"/>
                  </a:cubicBezTo>
                  <a:lnTo>
                    <a:pt x="70403" y="388935"/>
                  </a:lnTo>
                  <a:cubicBezTo>
                    <a:pt x="52335" y="381202"/>
                    <a:pt x="39697" y="363249"/>
                    <a:pt x="39697" y="342451"/>
                  </a:cubicBezTo>
                  <a:cubicBezTo>
                    <a:pt x="39697" y="314632"/>
                    <a:pt x="62393" y="292057"/>
                    <a:pt x="90252" y="292057"/>
                  </a:cubicBezTo>
                  <a:cubicBezTo>
                    <a:pt x="96037" y="292057"/>
                    <a:pt x="101555" y="293034"/>
                    <a:pt x="106718" y="294812"/>
                  </a:cubicBezTo>
                  <a:lnTo>
                    <a:pt x="181304" y="252594"/>
                  </a:lnTo>
                  <a:cubicBezTo>
                    <a:pt x="160299" y="226020"/>
                    <a:pt x="147660" y="192423"/>
                    <a:pt x="147660" y="155983"/>
                  </a:cubicBezTo>
                  <a:cubicBezTo>
                    <a:pt x="147660" y="69948"/>
                    <a:pt x="217707" y="0"/>
                    <a:pt x="303775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02" name="组合 901"/>
          <p:cNvGrpSpPr/>
          <p:nvPr/>
        </p:nvGrpSpPr>
        <p:grpSpPr>
          <a:xfrm>
            <a:off x="9268309" y="247411"/>
            <a:ext cx="1281318" cy="357706"/>
            <a:chOff x="2960756" y="247411"/>
            <a:chExt cx="1281318" cy="357706"/>
          </a:xfrm>
        </p:grpSpPr>
        <p:grpSp>
          <p:nvGrpSpPr>
            <p:cNvPr id="903" name="组合 902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2" name="矩形: 对角圆角 911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3" name="文本框 16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成效展望</a:t>
                </a:r>
              </a:p>
            </p:txBody>
          </p:sp>
        </p:grpSp>
        <p:sp>
          <p:nvSpPr>
            <p:cNvPr id="904" name="rocket-hitting-target_66569"/>
            <p:cNvSpPr/>
            <p:nvPr/>
          </p:nvSpPr>
          <p:spPr>
            <a:xfrm>
              <a:off x="3044770" y="339237"/>
              <a:ext cx="194645" cy="192330"/>
            </a:xfrm>
            <a:custGeom>
              <a:avLst/>
              <a:gdLst>
                <a:gd name="T0" fmla="*/ 9216 w 10688"/>
                <a:gd name="T1" fmla="*/ 6720 h 10560"/>
                <a:gd name="T2" fmla="*/ 8256 w 10688"/>
                <a:gd name="T3" fmla="*/ 7072 h 10560"/>
                <a:gd name="T4" fmla="*/ 7264 w 10688"/>
                <a:gd name="T5" fmla="*/ 5760 h 10560"/>
                <a:gd name="T6" fmla="*/ 5664 w 10688"/>
                <a:gd name="T7" fmla="*/ 2560 h 10560"/>
                <a:gd name="T8" fmla="*/ 6624 w 10688"/>
                <a:gd name="T9" fmla="*/ 1280 h 10560"/>
                <a:gd name="T10" fmla="*/ 4064 w 10688"/>
                <a:gd name="T11" fmla="*/ 1280 h 10560"/>
                <a:gd name="T12" fmla="*/ 5024 w 10688"/>
                <a:gd name="T13" fmla="*/ 3872 h 10560"/>
                <a:gd name="T14" fmla="*/ 3552 w 10688"/>
                <a:gd name="T15" fmla="*/ 6432 h 10560"/>
                <a:gd name="T16" fmla="*/ 2400 w 10688"/>
                <a:gd name="T17" fmla="*/ 7104 h 10560"/>
                <a:gd name="T18" fmla="*/ 832 w 10688"/>
                <a:gd name="T19" fmla="*/ 6880 h 10560"/>
                <a:gd name="T20" fmla="*/ 1472 w 10688"/>
                <a:gd name="T21" fmla="*/ 9280 h 10560"/>
                <a:gd name="T22" fmla="*/ 2688 w 10688"/>
                <a:gd name="T23" fmla="*/ 7648 h 10560"/>
                <a:gd name="T24" fmla="*/ 3840 w 10688"/>
                <a:gd name="T25" fmla="*/ 7008 h 10560"/>
                <a:gd name="T26" fmla="*/ 6784 w 10688"/>
                <a:gd name="T27" fmla="*/ 7008 h 10560"/>
                <a:gd name="T28" fmla="*/ 7936 w 10688"/>
                <a:gd name="T29" fmla="*/ 7648 h 10560"/>
                <a:gd name="T30" fmla="*/ 9152 w 10688"/>
                <a:gd name="T31" fmla="*/ 9280 h 10560"/>
                <a:gd name="T32" fmla="*/ 9856 w 10688"/>
                <a:gd name="T33" fmla="*/ 6880 h 10560"/>
                <a:gd name="T34" fmla="*/ 1472 w 10688"/>
                <a:gd name="T35" fmla="*/ 8640 h 10560"/>
                <a:gd name="T36" fmla="*/ 1152 w 10688"/>
                <a:gd name="T37" fmla="*/ 7456 h 10560"/>
                <a:gd name="T38" fmla="*/ 2016 w 10688"/>
                <a:gd name="T39" fmla="*/ 7680 h 10560"/>
                <a:gd name="T40" fmla="*/ 4704 w 10688"/>
                <a:gd name="T41" fmla="*/ 1280 h 10560"/>
                <a:gd name="T42" fmla="*/ 5984 w 10688"/>
                <a:gd name="T43" fmla="*/ 1280 h 10560"/>
                <a:gd name="T44" fmla="*/ 4704 w 10688"/>
                <a:gd name="T45" fmla="*/ 1280 h 10560"/>
                <a:gd name="T46" fmla="*/ 4064 w 10688"/>
                <a:gd name="T47" fmla="*/ 5760 h 10560"/>
                <a:gd name="T48" fmla="*/ 6624 w 10688"/>
                <a:gd name="T49" fmla="*/ 5760 h 10560"/>
                <a:gd name="T50" fmla="*/ 9792 w 10688"/>
                <a:gd name="T51" fmla="*/ 8320 h 10560"/>
                <a:gd name="T52" fmla="*/ 8928 w 10688"/>
                <a:gd name="T53" fmla="*/ 8544 h 10560"/>
                <a:gd name="T54" fmla="*/ 9248 w 10688"/>
                <a:gd name="T55" fmla="*/ 7360 h 10560"/>
                <a:gd name="T56" fmla="*/ 9792 w 10688"/>
                <a:gd name="T57" fmla="*/ 8320 h 10560"/>
                <a:gd name="T58" fmla="*/ 7520 w 10688"/>
                <a:gd name="T59" fmla="*/ 9280 h 10560"/>
                <a:gd name="T60" fmla="*/ 3200 w 10688"/>
                <a:gd name="T61" fmla="*/ 9312 h 10560"/>
                <a:gd name="T62" fmla="*/ 3040 w 10688"/>
                <a:gd name="T63" fmla="*/ 9280 h 10560"/>
                <a:gd name="T64" fmla="*/ 2880 w 10688"/>
                <a:gd name="T65" fmla="*/ 9888 h 10560"/>
                <a:gd name="T66" fmla="*/ 7744 w 10688"/>
                <a:gd name="T67" fmla="*/ 9888 h 10560"/>
                <a:gd name="T68" fmla="*/ 7616 w 10688"/>
                <a:gd name="T69" fmla="*/ 9280 h 10560"/>
                <a:gd name="T70" fmla="*/ 864 w 10688"/>
                <a:gd name="T71" fmla="*/ 6176 h 10560"/>
                <a:gd name="T72" fmla="*/ 1184 w 10688"/>
                <a:gd name="T73" fmla="*/ 5760 h 10560"/>
                <a:gd name="T74" fmla="*/ 3456 w 10688"/>
                <a:gd name="T75" fmla="*/ 1664 h 10560"/>
                <a:gd name="T76" fmla="*/ 544 w 10688"/>
                <a:gd name="T77" fmla="*/ 5760 h 10560"/>
                <a:gd name="T78" fmla="*/ 864 w 10688"/>
                <a:gd name="T79" fmla="*/ 6176 h 10560"/>
                <a:gd name="T80" fmla="*/ 9504 w 10688"/>
                <a:gd name="T81" fmla="*/ 5760 h 10560"/>
                <a:gd name="T82" fmla="*/ 9792 w 10688"/>
                <a:gd name="T83" fmla="*/ 6176 h 10560"/>
                <a:gd name="T84" fmla="*/ 10144 w 10688"/>
                <a:gd name="T85" fmla="*/ 5888 h 10560"/>
                <a:gd name="T86" fmla="*/ 7680 w 10688"/>
                <a:gd name="T87" fmla="*/ 1568 h 10560"/>
                <a:gd name="T88" fmla="*/ 7360 w 10688"/>
                <a:gd name="T89" fmla="*/ 2112 h 10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688" h="10560">
                  <a:moveTo>
                    <a:pt x="9856" y="6880"/>
                  </a:moveTo>
                  <a:cubicBezTo>
                    <a:pt x="9664" y="6752"/>
                    <a:pt x="9440" y="6720"/>
                    <a:pt x="9216" y="6720"/>
                  </a:cubicBezTo>
                  <a:cubicBezTo>
                    <a:pt x="8864" y="6720"/>
                    <a:pt x="8544" y="6848"/>
                    <a:pt x="8288" y="7104"/>
                  </a:cubicBezTo>
                  <a:lnTo>
                    <a:pt x="8256" y="7072"/>
                  </a:lnTo>
                  <a:lnTo>
                    <a:pt x="7136" y="6432"/>
                  </a:lnTo>
                  <a:cubicBezTo>
                    <a:pt x="7200" y="6208"/>
                    <a:pt x="7264" y="5984"/>
                    <a:pt x="7264" y="5760"/>
                  </a:cubicBezTo>
                  <a:cubicBezTo>
                    <a:pt x="7264" y="4800"/>
                    <a:pt x="6560" y="4032"/>
                    <a:pt x="5664" y="3872"/>
                  </a:cubicBezTo>
                  <a:lnTo>
                    <a:pt x="5664" y="2560"/>
                  </a:lnTo>
                  <a:lnTo>
                    <a:pt x="5664" y="2528"/>
                  </a:lnTo>
                  <a:cubicBezTo>
                    <a:pt x="6208" y="2400"/>
                    <a:pt x="6624" y="1888"/>
                    <a:pt x="6624" y="1280"/>
                  </a:cubicBezTo>
                  <a:cubicBezTo>
                    <a:pt x="6624" y="576"/>
                    <a:pt x="6048" y="0"/>
                    <a:pt x="5344" y="0"/>
                  </a:cubicBezTo>
                  <a:cubicBezTo>
                    <a:pt x="4640" y="0"/>
                    <a:pt x="4064" y="576"/>
                    <a:pt x="4064" y="1280"/>
                  </a:cubicBezTo>
                  <a:cubicBezTo>
                    <a:pt x="4064" y="1888"/>
                    <a:pt x="4480" y="2368"/>
                    <a:pt x="5024" y="2528"/>
                  </a:cubicBezTo>
                  <a:lnTo>
                    <a:pt x="5024" y="3872"/>
                  </a:lnTo>
                  <a:cubicBezTo>
                    <a:pt x="4128" y="4032"/>
                    <a:pt x="3424" y="4800"/>
                    <a:pt x="3424" y="5760"/>
                  </a:cubicBezTo>
                  <a:cubicBezTo>
                    <a:pt x="3424" y="5984"/>
                    <a:pt x="3456" y="6208"/>
                    <a:pt x="3552" y="6432"/>
                  </a:cubicBezTo>
                  <a:lnTo>
                    <a:pt x="2432" y="7072"/>
                  </a:lnTo>
                  <a:lnTo>
                    <a:pt x="2400" y="7104"/>
                  </a:lnTo>
                  <a:cubicBezTo>
                    <a:pt x="2144" y="6848"/>
                    <a:pt x="1792" y="6720"/>
                    <a:pt x="1472" y="6720"/>
                  </a:cubicBezTo>
                  <a:cubicBezTo>
                    <a:pt x="1248" y="6720"/>
                    <a:pt x="1024" y="6784"/>
                    <a:pt x="832" y="6880"/>
                  </a:cubicBezTo>
                  <a:cubicBezTo>
                    <a:pt x="224" y="7232"/>
                    <a:pt x="0" y="8032"/>
                    <a:pt x="352" y="8640"/>
                  </a:cubicBezTo>
                  <a:cubicBezTo>
                    <a:pt x="576" y="9056"/>
                    <a:pt x="1024" y="9280"/>
                    <a:pt x="1472" y="9280"/>
                  </a:cubicBezTo>
                  <a:cubicBezTo>
                    <a:pt x="1696" y="9280"/>
                    <a:pt x="1920" y="9216"/>
                    <a:pt x="2112" y="9120"/>
                  </a:cubicBezTo>
                  <a:cubicBezTo>
                    <a:pt x="2624" y="8832"/>
                    <a:pt x="2848" y="8224"/>
                    <a:pt x="2688" y="7648"/>
                  </a:cubicBezTo>
                  <a:lnTo>
                    <a:pt x="2720" y="7648"/>
                  </a:lnTo>
                  <a:lnTo>
                    <a:pt x="3840" y="7008"/>
                  </a:lnTo>
                  <a:cubicBezTo>
                    <a:pt x="4192" y="7424"/>
                    <a:pt x="4736" y="7712"/>
                    <a:pt x="5312" y="7712"/>
                  </a:cubicBezTo>
                  <a:cubicBezTo>
                    <a:pt x="5888" y="7712"/>
                    <a:pt x="6432" y="7456"/>
                    <a:pt x="6784" y="7008"/>
                  </a:cubicBezTo>
                  <a:lnTo>
                    <a:pt x="7904" y="7648"/>
                  </a:lnTo>
                  <a:lnTo>
                    <a:pt x="7936" y="7648"/>
                  </a:lnTo>
                  <a:cubicBezTo>
                    <a:pt x="7776" y="8192"/>
                    <a:pt x="8000" y="8800"/>
                    <a:pt x="8512" y="9120"/>
                  </a:cubicBezTo>
                  <a:cubicBezTo>
                    <a:pt x="8704" y="9248"/>
                    <a:pt x="8928" y="9280"/>
                    <a:pt x="9152" y="9280"/>
                  </a:cubicBezTo>
                  <a:cubicBezTo>
                    <a:pt x="9600" y="9280"/>
                    <a:pt x="10016" y="9056"/>
                    <a:pt x="10272" y="8640"/>
                  </a:cubicBezTo>
                  <a:cubicBezTo>
                    <a:pt x="10688" y="8032"/>
                    <a:pt x="10464" y="7232"/>
                    <a:pt x="9856" y="6880"/>
                  </a:cubicBezTo>
                  <a:close/>
                  <a:moveTo>
                    <a:pt x="1792" y="8544"/>
                  </a:moveTo>
                  <a:cubicBezTo>
                    <a:pt x="1696" y="8608"/>
                    <a:pt x="1600" y="8640"/>
                    <a:pt x="1472" y="8640"/>
                  </a:cubicBezTo>
                  <a:cubicBezTo>
                    <a:pt x="1248" y="8640"/>
                    <a:pt x="1024" y="8512"/>
                    <a:pt x="928" y="8320"/>
                  </a:cubicBezTo>
                  <a:cubicBezTo>
                    <a:pt x="736" y="8000"/>
                    <a:pt x="864" y="7616"/>
                    <a:pt x="1152" y="7456"/>
                  </a:cubicBezTo>
                  <a:cubicBezTo>
                    <a:pt x="1248" y="7392"/>
                    <a:pt x="1344" y="7360"/>
                    <a:pt x="1472" y="7360"/>
                  </a:cubicBezTo>
                  <a:cubicBezTo>
                    <a:pt x="1696" y="7360"/>
                    <a:pt x="1920" y="7488"/>
                    <a:pt x="2016" y="7680"/>
                  </a:cubicBezTo>
                  <a:cubicBezTo>
                    <a:pt x="2208" y="8000"/>
                    <a:pt x="2080" y="8384"/>
                    <a:pt x="1792" y="8544"/>
                  </a:cubicBezTo>
                  <a:close/>
                  <a:moveTo>
                    <a:pt x="4704" y="1280"/>
                  </a:moveTo>
                  <a:cubicBezTo>
                    <a:pt x="4704" y="928"/>
                    <a:pt x="4992" y="640"/>
                    <a:pt x="5344" y="640"/>
                  </a:cubicBezTo>
                  <a:cubicBezTo>
                    <a:pt x="5696" y="640"/>
                    <a:pt x="5984" y="928"/>
                    <a:pt x="5984" y="1280"/>
                  </a:cubicBezTo>
                  <a:cubicBezTo>
                    <a:pt x="5984" y="1632"/>
                    <a:pt x="5696" y="1920"/>
                    <a:pt x="5344" y="1920"/>
                  </a:cubicBezTo>
                  <a:cubicBezTo>
                    <a:pt x="4992" y="1920"/>
                    <a:pt x="4704" y="1632"/>
                    <a:pt x="4704" y="1280"/>
                  </a:cubicBezTo>
                  <a:close/>
                  <a:moveTo>
                    <a:pt x="5344" y="7040"/>
                  </a:moveTo>
                  <a:cubicBezTo>
                    <a:pt x="4640" y="7040"/>
                    <a:pt x="4064" y="6464"/>
                    <a:pt x="4064" y="5760"/>
                  </a:cubicBezTo>
                  <a:cubicBezTo>
                    <a:pt x="4064" y="5056"/>
                    <a:pt x="4640" y="4480"/>
                    <a:pt x="5344" y="4480"/>
                  </a:cubicBezTo>
                  <a:cubicBezTo>
                    <a:pt x="6048" y="4480"/>
                    <a:pt x="6624" y="5056"/>
                    <a:pt x="6624" y="5760"/>
                  </a:cubicBezTo>
                  <a:cubicBezTo>
                    <a:pt x="6624" y="6464"/>
                    <a:pt x="6048" y="7040"/>
                    <a:pt x="5344" y="7040"/>
                  </a:cubicBezTo>
                  <a:close/>
                  <a:moveTo>
                    <a:pt x="9792" y="8320"/>
                  </a:moveTo>
                  <a:cubicBezTo>
                    <a:pt x="9664" y="8512"/>
                    <a:pt x="9472" y="8640"/>
                    <a:pt x="9248" y="8640"/>
                  </a:cubicBezTo>
                  <a:cubicBezTo>
                    <a:pt x="9120" y="8640"/>
                    <a:pt x="9024" y="8608"/>
                    <a:pt x="8928" y="8544"/>
                  </a:cubicBezTo>
                  <a:cubicBezTo>
                    <a:pt x="8608" y="8352"/>
                    <a:pt x="8512" y="7968"/>
                    <a:pt x="8704" y="7680"/>
                  </a:cubicBezTo>
                  <a:cubicBezTo>
                    <a:pt x="8832" y="7488"/>
                    <a:pt x="9024" y="7360"/>
                    <a:pt x="9248" y="7360"/>
                  </a:cubicBezTo>
                  <a:cubicBezTo>
                    <a:pt x="9376" y="7360"/>
                    <a:pt x="9472" y="7392"/>
                    <a:pt x="9568" y="7456"/>
                  </a:cubicBezTo>
                  <a:cubicBezTo>
                    <a:pt x="9856" y="7616"/>
                    <a:pt x="9952" y="8000"/>
                    <a:pt x="9792" y="8320"/>
                  </a:cubicBezTo>
                  <a:close/>
                  <a:moveTo>
                    <a:pt x="7616" y="9280"/>
                  </a:moveTo>
                  <a:lnTo>
                    <a:pt x="7520" y="9280"/>
                  </a:lnTo>
                  <a:lnTo>
                    <a:pt x="7456" y="9312"/>
                  </a:lnTo>
                  <a:cubicBezTo>
                    <a:pt x="6176" y="10080"/>
                    <a:pt x="4480" y="10080"/>
                    <a:pt x="3200" y="9312"/>
                  </a:cubicBezTo>
                  <a:lnTo>
                    <a:pt x="3136" y="9280"/>
                  </a:lnTo>
                  <a:lnTo>
                    <a:pt x="3040" y="9280"/>
                  </a:lnTo>
                  <a:cubicBezTo>
                    <a:pt x="2848" y="9280"/>
                    <a:pt x="2720" y="9408"/>
                    <a:pt x="2720" y="9600"/>
                  </a:cubicBezTo>
                  <a:cubicBezTo>
                    <a:pt x="2720" y="9728"/>
                    <a:pt x="2784" y="9824"/>
                    <a:pt x="2880" y="9888"/>
                  </a:cubicBezTo>
                  <a:cubicBezTo>
                    <a:pt x="3616" y="10336"/>
                    <a:pt x="4448" y="10560"/>
                    <a:pt x="5312" y="10560"/>
                  </a:cubicBezTo>
                  <a:cubicBezTo>
                    <a:pt x="6176" y="10560"/>
                    <a:pt x="7008" y="10336"/>
                    <a:pt x="7744" y="9888"/>
                  </a:cubicBezTo>
                  <a:cubicBezTo>
                    <a:pt x="7840" y="9824"/>
                    <a:pt x="7936" y="9728"/>
                    <a:pt x="7936" y="9600"/>
                  </a:cubicBezTo>
                  <a:cubicBezTo>
                    <a:pt x="7936" y="9440"/>
                    <a:pt x="7808" y="9280"/>
                    <a:pt x="7616" y="9280"/>
                  </a:cubicBezTo>
                  <a:close/>
                  <a:moveTo>
                    <a:pt x="864" y="6176"/>
                  </a:moveTo>
                  <a:cubicBezTo>
                    <a:pt x="864" y="6176"/>
                    <a:pt x="896" y="6176"/>
                    <a:pt x="864" y="6176"/>
                  </a:cubicBezTo>
                  <a:cubicBezTo>
                    <a:pt x="1056" y="6144"/>
                    <a:pt x="1216" y="6016"/>
                    <a:pt x="1184" y="5824"/>
                  </a:cubicBezTo>
                  <a:lnTo>
                    <a:pt x="1184" y="5760"/>
                  </a:lnTo>
                  <a:cubicBezTo>
                    <a:pt x="1184" y="4256"/>
                    <a:pt x="2016" y="2848"/>
                    <a:pt x="3328" y="2112"/>
                  </a:cubicBezTo>
                  <a:cubicBezTo>
                    <a:pt x="3488" y="2016"/>
                    <a:pt x="3552" y="1824"/>
                    <a:pt x="3456" y="1664"/>
                  </a:cubicBezTo>
                  <a:cubicBezTo>
                    <a:pt x="3360" y="1504"/>
                    <a:pt x="3168" y="1440"/>
                    <a:pt x="3008" y="1536"/>
                  </a:cubicBezTo>
                  <a:cubicBezTo>
                    <a:pt x="1504" y="2400"/>
                    <a:pt x="544" y="4000"/>
                    <a:pt x="544" y="5760"/>
                  </a:cubicBezTo>
                  <a:lnTo>
                    <a:pt x="544" y="5888"/>
                  </a:lnTo>
                  <a:cubicBezTo>
                    <a:pt x="576" y="6048"/>
                    <a:pt x="704" y="6176"/>
                    <a:pt x="864" y="6176"/>
                  </a:cubicBezTo>
                  <a:close/>
                  <a:moveTo>
                    <a:pt x="7360" y="2112"/>
                  </a:moveTo>
                  <a:cubicBezTo>
                    <a:pt x="8672" y="2848"/>
                    <a:pt x="9504" y="4256"/>
                    <a:pt x="9504" y="5760"/>
                  </a:cubicBezTo>
                  <a:lnTo>
                    <a:pt x="9504" y="5824"/>
                  </a:lnTo>
                  <a:cubicBezTo>
                    <a:pt x="9472" y="5984"/>
                    <a:pt x="9600" y="6144"/>
                    <a:pt x="9792" y="6176"/>
                  </a:cubicBezTo>
                  <a:lnTo>
                    <a:pt x="9824" y="6176"/>
                  </a:lnTo>
                  <a:cubicBezTo>
                    <a:pt x="9984" y="6176"/>
                    <a:pt x="10112" y="6048"/>
                    <a:pt x="10144" y="5888"/>
                  </a:cubicBezTo>
                  <a:lnTo>
                    <a:pt x="10144" y="5760"/>
                  </a:lnTo>
                  <a:cubicBezTo>
                    <a:pt x="10144" y="4000"/>
                    <a:pt x="9184" y="2400"/>
                    <a:pt x="7680" y="1568"/>
                  </a:cubicBezTo>
                  <a:cubicBezTo>
                    <a:pt x="7520" y="1472"/>
                    <a:pt x="7328" y="1536"/>
                    <a:pt x="7232" y="1696"/>
                  </a:cubicBezTo>
                  <a:cubicBezTo>
                    <a:pt x="7136" y="1856"/>
                    <a:pt x="7200" y="2048"/>
                    <a:pt x="7360" y="21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530385" y="247411"/>
            <a:ext cx="1281318" cy="357706"/>
            <a:chOff x="3844247" y="247411"/>
            <a:chExt cx="1281318" cy="357706"/>
          </a:xfrm>
        </p:grpSpPr>
        <p:sp>
          <p:nvSpPr>
            <p:cNvPr id="52" name="矩形: 对角圆角 51"/>
            <p:cNvSpPr/>
            <p:nvPr/>
          </p:nvSpPr>
          <p:spPr>
            <a:xfrm>
              <a:off x="3844247" y="247411"/>
              <a:ext cx="1281318" cy="357706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6EAEE5"/>
                </a:gs>
                <a:gs pos="75000">
                  <a:srgbClr val="0070C0"/>
                </a:gs>
              </a:gsLst>
              <a:lin ang="5400000" scaled="1"/>
              <a:tileRect/>
            </a:gra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103"/>
            <p:cNvSpPr txBox="1"/>
            <p:nvPr/>
          </p:nvSpPr>
          <p:spPr>
            <a:xfrm>
              <a:off x="4068715" y="278972"/>
              <a:ext cx="963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algn="ctr">
                <a:buClrTx/>
                <a:buSzTx/>
                <a:buFontTx/>
                <a:defRPr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命题背景</a:t>
              </a:r>
            </a:p>
          </p:txBody>
        </p:sp>
        <p:sp>
          <p:nvSpPr>
            <p:cNvPr id="55" name="rocket-hitting-target_66569"/>
            <p:cNvSpPr/>
            <p:nvPr/>
          </p:nvSpPr>
          <p:spPr>
            <a:xfrm>
              <a:off x="393118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5224022" y="247411"/>
            <a:ext cx="1281318" cy="357706"/>
            <a:chOff x="2960756" y="247411"/>
            <a:chExt cx="1281318" cy="357706"/>
          </a:xfrm>
        </p:grpSpPr>
        <p:grpSp>
          <p:nvGrpSpPr>
            <p:cNvPr id="142" name="组合 141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44" name="矩形: 对角圆角 143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5" name="文本框 15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解题方案</a:t>
                </a:r>
              </a:p>
            </p:txBody>
          </p:sp>
        </p:grpSp>
        <p:sp>
          <p:nvSpPr>
            <p:cNvPr id="143" name="rocket-hitting-target_66569"/>
            <p:cNvSpPr/>
            <p:nvPr/>
          </p:nvSpPr>
          <p:spPr>
            <a:xfrm>
              <a:off x="3044770" y="338977"/>
              <a:ext cx="194645" cy="192849"/>
            </a:xfrm>
            <a:custGeom>
              <a:avLst/>
              <a:gdLst>
                <a:gd name="T0" fmla="*/ 372171 w 604011"/>
                <a:gd name="T1" fmla="*/ 372171 w 604011"/>
                <a:gd name="T2" fmla="*/ 372171 w 604011"/>
                <a:gd name="T3" fmla="*/ 372171 w 604011"/>
                <a:gd name="T4" fmla="*/ 372171 w 604011"/>
                <a:gd name="T5" fmla="*/ 372171 w 604011"/>
                <a:gd name="T6" fmla="*/ 372171 w 604011"/>
                <a:gd name="T7" fmla="*/ 372171 w 604011"/>
                <a:gd name="T8" fmla="*/ 372171 w 604011"/>
                <a:gd name="T9" fmla="*/ 372171 w 604011"/>
                <a:gd name="T10" fmla="*/ 372171 w 604011"/>
                <a:gd name="T11" fmla="*/ 372171 w 604011"/>
                <a:gd name="T12" fmla="*/ 372171 w 604011"/>
                <a:gd name="T13" fmla="*/ 372171 w 604011"/>
                <a:gd name="T14" fmla="*/ 372171 w 604011"/>
                <a:gd name="T15" fmla="*/ 372171 w 604011"/>
                <a:gd name="T16" fmla="*/ 372171 w 604011"/>
                <a:gd name="T17" fmla="*/ 372171 w 604011"/>
                <a:gd name="T18" fmla="*/ 372171 w 604011"/>
                <a:gd name="T19" fmla="*/ 372171 w 604011"/>
                <a:gd name="T20" fmla="*/ 372171 w 604011"/>
                <a:gd name="T21" fmla="*/ 372171 w 604011"/>
                <a:gd name="T22" fmla="*/ 372171 w 604011"/>
                <a:gd name="T23" fmla="*/ 372171 w 604011"/>
                <a:gd name="T24" fmla="*/ 372171 w 604011"/>
                <a:gd name="T25" fmla="*/ 372171 w 604011"/>
                <a:gd name="T26" fmla="*/ 372171 w 604011"/>
                <a:gd name="T27" fmla="*/ 372171 w 604011"/>
                <a:gd name="T28" fmla="*/ 372171 w 604011"/>
                <a:gd name="T29" fmla="*/ 372171 w 604011"/>
                <a:gd name="T30" fmla="*/ 372171 w 604011"/>
                <a:gd name="T31" fmla="*/ 372171 w 604011"/>
                <a:gd name="T32" fmla="*/ 372171 w 604011"/>
                <a:gd name="T33" fmla="*/ 372171 w 604011"/>
                <a:gd name="T34" fmla="*/ 372171 w 604011"/>
                <a:gd name="T35" fmla="*/ 372171 w 604011"/>
                <a:gd name="T36" fmla="*/ 372171 w 604011"/>
                <a:gd name="T37" fmla="*/ 372171 w 604011"/>
                <a:gd name="T38" fmla="*/ 372171 w 604011"/>
                <a:gd name="T39" fmla="*/ 372171 w 604011"/>
                <a:gd name="T40" fmla="*/ 372171 w 604011"/>
                <a:gd name="T41" fmla="*/ 372171 w 604011"/>
                <a:gd name="T42" fmla="*/ 372171 w 604011"/>
                <a:gd name="T43" fmla="*/ 372171 w 604011"/>
                <a:gd name="T44" fmla="*/ 372171 w 604011"/>
                <a:gd name="T45" fmla="*/ 372171 w 604011"/>
                <a:gd name="T46" fmla="*/ 372171 w 604011"/>
                <a:gd name="T47" fmla="*/ 372171 w 604011"/>
                <a:gd name="T48" fmla="*/ 372171 w 604011"/>
                <a:gd name="T49" fmla="*/ 372171 w 604011"/>
                <a:gd name="T50" fmla="*/ 372171 w 604011"/>
                <a:gd name="T51" fmla="*/ 372171 w 604011"/>
                <a:gd name="T52" fmla="*/ 372171 w 604011"/>
                <a:gd name="T53" fmla="*/ 372171 w 604011"/>
                <a:gd name="T54" fmla="*/ 372171 w 604011"/>
                <a:gd name="T55" fmla="*/ 372171 w 604011"/>
                <a:gd name="T56" fmla="*/ 372171 w 604011"/>
                <a:gd name="T57" fmla="*/ 372171 w 604011"/>
                <a:gd name="T58" fmla="*/ 372171 w 604011"/>
                <a:gd name="T59" fmla="*/ 372171 w 604011"/>
                <a:gd name="T60" fmla="*/ 372171 w 604011"/>
                <a:gd name="T61" fmla="*/ 372171 w 604011"/>
                <a:gd name="T62" fmla="*/ 372171 w 604011"/>
                <a:gd name="T63" fmla="*/ 372171 w 604011"/>
                <a:gd name="T64" fmla="*/ 372171 w 604011"/>
                <a:gd name="T65" fmla="*/ 372171 w 604011"/>
                <a:gd name="T66" fmla="*/ 372171 w 604011"/>
                <a:gd name="T67" fmla="*/ 372171 w 604011"/>
                <a:gd name="T68" fmla="*/ 372171 w 604011"/>
                <a:gd name="T69" fmla="*/ 372171 w 604011"/>
                <a:gd name="T70" fmla="*/ 372171 w 604011"/>
                <a:gd name="T71" fmla="*/ 372171 w 604011"/>
                <a:gd name="T72" fmla="*/ 372171 w 604011"/>
                <a:gd name="T73" fmla="*/ 372171 w 604011"/>
                <a:gd name="T74" fmla="*/ 372171 w 604011"/>
                <a:gd name="T75" fmla="*/ 372171 w 604011"/>
                <a:gd name="T76" fmla="*/ 372171 w 604011"/>
                <a:gd name="T77" fmla="*/ 372171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00" h="2183">
                  <a:moveTo>
                    <a:pt x="2176" y="1003"/>
                  </a:moveTo>
                  <a:cubicBezTo>
                    <a:pt x="2131" y="443"/>
                    <a:pt x="1674" y="12"/>
                    <a:pt x="1113" y="0"/>
                  </a:cubicBezTo>
                  <a:cubicBezTo>
                    <a:pt x="1112" y="0"/>
                    <a:pt x="1111" y="0"/>
                    <a:pt x="1110" y="0"/>
                  </a:cubicBezTo>
                  <a:cubicBezTo>
                    <a:pt x="1103" y="0"/>
                    <a:pt x="942" y="6"/>
                    <a:pt x="781" y="106"/>
                  </a:cubicBezTo>
                  <a:cubicBezTo>
                    <a:pt x="638" y="195"/>
                    <a:pt x="469" y="376"/>
                    <a:pt x="455" y="736"/>
                  </a:cubicBezTo>
                  <a:cubicBezTo>
                    <a:pt x="185" y="822"/>
                    <a:pt x="16" y="979"/>
                    <a:pt x="3" y="1155"/>
                  </a:cubicBezTo>
                  <a:cubicBezTo>
                    <a:pt x="1" y="1163"/>
                    <a:pt x="0" y="1171"/>
                    <a:pt x="1" y="1180"/>
                  </a:cubicBezTo>
                  <a:cubicBezTo>
                    <a:pt x="47" y="1750"/>
                    <a:pt x="526" y="2183"/>
                    <a:pt x="1088" y="2183"/>
                  </a:cubicBezTo>
                  <a:cubicBezTo>
                    <a:pt x="1117" y="2183"/>
                    <a:pt x="1147" y="2181"/>
                    <a:pt x="1177" y="2179"/>
                  </a:cubicBezTo>
                  <a:cubicBezTo>
                    <a:pt x="1468" y="2155"/>
                    <a:pt x="1732" y="2020"/>
                    <a:pt x="1920" y="1798"/>
                  </a:cubicBezTo>
                  <a:cubicBezTo>
                    <a:pt x="2109" y="1575"/>
                    <a:pt x="2200" y="1293"/>
                    <a:pt x="2176" y="1003"/>
                  </a:cubicBezTo>
                  <a:close/>
                  <a:moveTo>
                    <a:pt x="1098" y="134"/>
                  </a:moveTo>
                  <a:cubicBezTo>
                    <a:pt x="1452" y="316"/>
                    <a:pt x="1672" y="675"/>
                    <a:pt x="1672" y="1074"/>
                  </a:cubicBezTo>
                  <a:cubicBezTo>
                    <a:pt x="1672" y="1148"/>
                    <a:pt x="1660" y="1220"/>
                    <a:pt x="1646" y="1281"/>
                  </a:cubicBezTo>
                  <a:lnTo>
                    <a:pt x="1216" y="1075"/>
                  </a:lnTo>
                  <a:cubicBezTo>
                    <a:pt x="1233" y="1041"/>
                    <a:pt x="1242" y="1003"/>
                    <a:pt x="1242" y="963"/>
                  </a:cubicBezTo>
                  <a:cubicBezTo>
                    <a:pt x="1242" y="820"/>
                    <a:pt x="1127" y="705"/>
                    <a:pt x="984" y="705"/>
                  </a:cubicBezTo>
                  <a:cubicBezTo>
                    <a:pt x="881" y="705"/>
                    <a:pt x="793" y="765"/>
                    <a:pt x="751" y="852"/>
                  </a:cubicBezTo>
                  <a:lnTo>
                    <a:pt x="588" y="774"/>
                  </a:lnTo>
                  <a:cubicBezTo>
                    <a:pt x="594" y="212"/>
                    <a:pt x="1010" y="143"/>
                    <a:pt x="1098" y="134"/>
                  </a:cubicBezTo>
                  <a:close/>
                  <a:moveTo>
                    <a:pt x="136" y="1176"/>
                  </a:moveTo>
                  <a:cubicBezTo>
                    <a:pt x="136" y="1046"/>
                    <a:pt x="294" y="918"/>
                    <a:pt x="538" y="850"/>
                  </a:cubicBezTo>
                  <a:cubicBezTo>
                    <a:pt x="543" y="849"/>
                    <a:pt x="547" y="847"/>
                    <a:pt x="551" y="845"/>
                  </a:cubicBezTo>
                  <a:lnTo>
                    <a:pt x="729" y="930"/>
                  </a:lnTo>
                  <a:cubicBezTo>
                    <a:pt x="727" y="941"/>
                    <a:pt x="726" y="951"/>
                    <a:pt x="726" y="963"/>
                  </a:cubicBezTo>
                  <a:cubicBezTo>
                    <a:pt x="726" y="1105"/>
                    <a:pt x="842" y="1220"/>
                    <a:pt x="984" y="1220"/>
                  </a:cubicBezTo>
                  <a:cubicBezTo>
                    <a:pt x="1057" y="1220"/>
                    <a:pt x="1123" y="1190"/>
                    <a:pt x="1170" y="1141"/>
                  </a:cubicBezTo>
                  <a:lnTo>
                    <a:pt x="1605" y="1350"/>
                  </a:lnTo>
                  <a:cubicBezTo>
                    <a:pt x="1468" y="1472"/>
                    <a:pt x="1202" y="1551"/>
                    <a:pt x="918" y="1551"/>
                  </a:cubicBezTo>
                  <a:cubicBezTo>
                    <a:pt x="494" y="1551"/>
                    <a:pt x="136" y="1379"/>
                    <a:pt x="136" y="1176"/>
                  </a:cubicBezTo>
                  <a:close/>
                  <a:moveTo>
                    <a:pt x="1166" y="2046"/>
                  </a:moveTo>
                  <a:cubicBezTo>
                    <a:pt x="764" y="2079"/>
                    <a:pt x="398" y="1856"/>
                    <a:pt x="229" y="1514"/>
                  </a:cubicBezTo>
                  <a:cubicBezTo>
                    <a:pt x="395" y="1619"/>
                    <a:pt x="640" y="1684"/>
                    <a:pt x="918" y="1684"/>
                  </a:cubicBezTo>
                  <a:cubicBezTo>
                    <a:pt x="1277" y="1684"/>
                    <a:pt x="1603" y="1570"/>
                    <a:pt x="1750" y="1392"/>
                  </a:cubicBezTo>
                  <a:cubicBezTo>
                    <a:pt x="1756" y="1385"/>
                    <a:pt x="1760" y="1376"/>
                    <a:pt x="1763" y="1366"/>
                  </a:cubicBezTo>
                  <a:cubicBezTo>
                    <a:pt x="1782" y="1289"/>
                    <a:pt x="1805" y="1186"/>
                    <a:pt x="1805" y="1074"/>
                  </a:cubicBezTo>
                  <a:cubicBezTo>
                    <a:pt x="1805" y="728"/>
                    <a:pt x="1659" y="410"/>
                    <a:pt x="1410" y="188"/>
                  </a:cubicBezTo>
                  <a:cubicBezTo>
                    <a:pt x="1757" y="310"/>
                    <a:pt x="2012" y="627"/>
                    <a:pt x="2043" y="1013"/>
                  </a:cubicBezTo>
                  <a:cubicBezTo>
                    <a:pt x="2086" y="1540"/>
                    <a:pt x="1693" y="2003"/>
                    <a:pt x="1166" y="204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6" name="灯片编号占位符 35"/>
          <p:cNvSpPr txBox="1"/>
          <p:nvPr/>
        </p:nvSpPr>
        <p:spPr>
          <a:xfrm>
            <a:off x="11827297" y="6475412"/>
            <a:ext cx="4400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D91E7F-84B6-4064-9D4E-CC7D244BCA04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3" name="生产模式演进图（左半区）"/>
          <p:cNvGrpSpPr/>
          <p:nvPr/>
        </p:nvGrpSpPr>
        <p:grpSpPr>
          <a:xfrm>
            <a:off x="466725" y="904875"/>
            <a:ext cx="5248275" cy="5648325"/>
            <a:chOff x="466725" y="904875"/>
            <a:chExt cx="5248275" cy="5648325"/>
          </a:xfrm>
        </p:grpSpPr>
        <p:grpSp>
          <p:nvGrpSpPr>
            <p:cNvPr id="17" name="演进路径（连线+节点）"/>
            <p:cNvGrpSpPr/>
            <p:nvPr/>
          </p:nvGrpSpPr>
          <p:grpSpPr>
            <a:xfrm>
              <a:off x="466725" y="1038225"/>
              <a:ext cx="3590925" cy="5010150"/>
              <a:chOff x="466725" y="1038225"/>
              <a:chExt cx="3590925" cy="5010150"/>
            </a:xfrm>
          </p:grpSpPr>
          <p:sp>
            <p:nvSpPr>
              <p:cNvPr id="10" name="演进路径线"/>
              <p:cNvSpPr/>
              <p:nvPr/>
            </p:nvSpPr>
            <p:spPr>
              <a:xfrm>
                <a:off x="514350" y="1085850"/>
                <a:ext cx="3543300" cy="4962525"/>
              </a:xfrm>
              <a:custGeom>
                <a:avLst/>
                <a:gdLst/>
                <a:ahLst/>
                <a:cxnLst/>
                <a:rect l="l" t="t" r="r" b="b"/>
                <a:pathLst>
                  <a:path w="3543300" h="4962525">
                    <a:moveTo>
                      <a:pt x="0" y="0"/>
                    </a:moveTo>
                    <a:lnTo>
                      <a:pt x="0" y="2324100"/>
                    </a:lnTo>
                    <a:cubicBezTo>
                      <a:pt x="0" y="2400300"/>
                      <a:pt x="38100" y="2438400"/>
                      <a:pt x="114300" y="2438400"/>
                    </a:cubicBezTo>
                    <a:lnTo>
                      <a:pt x="3295650" y="2438400"/>
                    </a:lnTo>
                    <a:cubicBezTo>
                      <a:pt x="3371850" y="2438400"/>
                      <a:pt x="3409950" y="2476500"/>
                      <a:pt x="3409950" y="2552700"/>
                    </a:cubicBezTo>
                    <a:lnTo>
                      <a:pt x="3409950" y="4848225"/>
                    </a:lnTo>
                    <a:cubicBezTo>
                      <a:pt x="3409950" y="4924425"/>
                      <a:pt x="3448050" y="4962525"/>
                      <a:pt x="3524250" y="4962525"/>
                    </a:cubicBezTo>
                    <a:lnTo>
                      <a:pt x="3543300" y="4962525"/>
                    </a:lnTo>
                  </a:path>
                </a:pathLst>
              </a:custGeom>
              <a:noFill/>
              <a:ln w="19050" cap="rnd">
                <a:solidFill>
                  <a:srgbClr val="1D84F5"/>
                </a:solidFill>
                <a:round/>
                <a:tailEnd type="triangle" w="lg" len="lg"/>
              </a:ln>
            </p:spPr>
          </p:sp>
          <p:sp>
            <p:nvSpPr>
              <p:cNvPr id="11" name="节点 工业1.0"/>
              <p:cNvSpPr/>
              <p:nvPr/>
            </p:nvSpPr>
            <p:spPr>
              <a:xfrm>
                <a:off x="466725" y="10382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2" name="节点 工业2.0"/>
              <p:cNvSpPr/>
              <p:nvPr/>
            </p:nvSpPr>
            <p:spPr>
              <a:xfrm>
                <a:off x="466725" y="185737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3" name="节点 工业3.0"/>
              <p:cNvSpPr/>
              <p:nvPr/>
            </p:nvSpPr>
            <p:spPr>
              <a:xfrm>
                <a:off x="466725" y="26765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4" name="节点 工业4.0"/>
              <p:cNvSpPr/>
              <p:nvPr/>
            </p:nvSpPr>
            <p:spPr>
              <a:xfrm>
                <a:off x="3876675" y="3686175"/>
                <a:ext cx="95250" cy="95250"/>
              </a:xfrm>
              <a:prstGeom prst="ellipse">
                <a:avLst/>
              </a:prstGeom>
              <a:solidFill>
                <a:srgbClr val="1D84F5"/>
              </a:solidFill>
              <a:ln w="14288">
                <a:solidFill>
                  <a:srgbClr val="FFFFFF"/>
                </a:solidFill>
              </a:ln>
            </p:spPr>
          </p:sp>
          <p:sp>
            <p:nvSpPr>
              <p:cNvPr id="15" name="节点外环 下一阶段"/>
              <p:cNvSpPr/>
              <p:nvPr/>
            </p:nvSpPr>
            <p:spPr>
              <a:xfrm>
                <a:off x="3819525" y="5153025"/>
                <a:ext cx="209550" cy="209550"/>
              </a:xfrm>
              <a:prstGeom prst="ellipse">
                <a:avLst/>
              </a:prstGeom>
              <a:noFill/>
              <a:ln w="11430">
                <a:solidFill>
                  <a:srgbClr val="1D84F5">
                    <a:alpha val="45000"/>
                  </a:srgbClr>
                </a:solidFill>
              </a:ln>
            </p:spPr>
          </p:sp>
          <p:sp>
            <p:nvSpPr>
              <p:cNvPr id="16" name="节点 下一阶段"/>
              <p:cNvSpPr/>
              <p:nvPr/>
            </p:nvSpPr>
            <p:spPr>
              <a:xfrm>
                <a:off x="3867150" y="5200650"/>
                <a:ext cx="114300" cy="114300"/>
              </a:xfrm>
              <a:prstGeom prst="ellipse">
                <a:avLst/>
              </a:prstGeom>
              <a:solidFill>
                <a:srgbClr val="1D84F5"/>
              </a:solidFill>
              <a:ln>
                <a:noFill/>
              </a:ln>
            </p:spPr>
          </p:sp>
        </p:grpSp>
        <p:grpSp>
          <p:nvGrpSpPr>
            <p:cNvPr id="21" name="阶段 工业1.0 机械化"/>
            <p:cNvGrpSpPr/>
            <p:nvPr/>
          </p:nvGrpSpPr>
          <p:grpSpPr>
            <a:xfrm>
              <a:off x="696723" y="993775"/>
              <a:ext cx="2147746" cy="703834"/>
              <a:chOff x="696723" y="993775"/>
              <a:chExt cx="2147746" cy="703834"/>
            </a:xfrm>
          </p:grpSpPr>
          <p:sp>
            <p:nvSpPr>
              <p:cNvPr id="18" name="阶段标签 工业1.0 机械化"/>
              <p:cNvSpPr txBox="1"/>
              <p:nvPr/>
            </p:nvSpPr>
            <p:spPr>
              <a:xfrm>
                <a:off x="699261" y="993775"/>
                <a:ext cx="2145208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工业1.0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机械化</a:t>
                </a:r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 xml:space="preserve"> 代表：瓦特蒸汽机</a:t>
                </a:r>
              </a:p>
            </p:txBody>
          </p:sp>
          <p:sp>
            <p:nvSpPr>
              <p:cNvPr id="19" name="模式名称 功能化机器"/>
              <p:cNvSpPr txBox="1"/>
              <p:nvPr/>
            </p:nvSpPr>
            <p:spPr>
              <a:xfrm>
                <a:off x="696723" y="12096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功能化机器</a:t>
                </a:r>
              </a:p>
            </p:txBody>
          </p:sp>
          <p:sp>
            <p:nvSpPr>
              <p:cNvPr id="20" name="变化说明 工业1.0"/>
              <p:cNvSpPr txBox="1"/>
              <p:nvPr/>
            </p:nvSpPr>
            <p:spPr>
              <a:xfrm>
                <a:off x="699516" y="149225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凭经验管理，生产基础性产品</a:t>
                </a:r>
              </a:p>
            </p:txBody>
          </p:sp>
        </p:grpSp>
        <p:grpSp>
          <p:nvGrpSpPr>
            <p:cNvPr id="24" name="圆形配图 工业1.0 瓦特蒸汽机"/>
            <p:cNvGrpSpPr/>
            <p:nvPr/>
          </p:nvGrpSpPr>
          <p:grpSpPr>
            <a:xfrm>
              <a:off x="4657725" y="904875"/>
              <a:ext cx="1047750" cy="1047750"/>
              <a:chOff x="4657725" y="904875"/>
              <a:chExt cx="1047750" cy="1047750"/>
            </a:xfrm>
          </p:grpSpPr>
          <p:sp>
            <p:nvSpPr>
              <p:cNvPr id="22" name="圆形相框 工业1.0"/>
              <p:cNvSpPr/>
              <p:nvPr/>
            </p:nvSpPr>
            <p:spPr>
              <a:xfrm>
                <a:off x="4657725" y="904875"/>
                <a:ext cx="1047750" cy="10477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ctr" rotWithShape="0">
                  <a:srgbClr val="0B2A5B">
                    <a:alpha val="13500"/>
                  </a:srgbClr>
                </a:outerShdw>
              </a:effectLst>
            </p:spPr>
          </p:sp>
          <p:pic>
            <p:nvPicPr>
              <p:cNvPr id="23" name="照片 瓦特蒸汽机（原稿图）"/>
              <p:cNvPicPr>
                <a:picLocks noChangeAspect="1"/>
              </p:cNvPicPr>
              <p:nvPr/>
            </p:nvPicPr>
            <p:blipFill>
              <a:blip r:embed="rId21"/>
              <a:srcRect l="0" t="6725" r="0" b="6725"/>
              <a:stretch>
                <a:fillRect/>
              </a:stretch>
            </p:blipFill>
            <p:spPr>
              <a:xfrm>
                <a:off x="4686300" y="933450"/>
                <a:ext cx="990600" cy="990600"/>
              </a:xfrm>
              <a:prstGeom prst="ellipse">
                <a:avLst/>
              </a:prstGeom>
            </p:spPr>
          </p:pic>
        </p:grpSp>
        <p:grpSp>
          <p:nvGrpSpPr>
            <p:cNvPr id="28" name="阶段 工业2.0 电气化"/>
            <p:cNvGrpSpPr/>
            <p:nvPr/>
          </p:nvGrpSpPr>
          <p:grpSpPr>
            <a:xfrm>
              <a:off x="696723" y="1812925"/>
              <a:ext cx="2511220" cy="703834"/>
              <a:chOff x="696723" y="1812925"/>
              <a:chExt cx="2511220" cy="703834"/>
            </a:xfrm>
          </p:grpSpPr>
          <p:sp>
            <p:nvSpPr>
              <p:cNvPr id="25" name="阶段标签 工业2.0 电气化"/>
              <p:cNvSpPr txBox="1"/>
              <p:nvPr/>
            </p:nvSpPr>
            <p:spPr>
              <a:xfrm>
                <a:off x="699261" y="1812925"/>
                <a:ext cx="2508682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工业2.0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电气化</a:t>
                </a:r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 xml:space="preserve"> 代表：福特流水式生产线</a:t>
                </a:r>
              </a:p>
            </p:txBody>
          </p:sp>
          <p:sp>
            <p:nvSpPr>
              <p:cNvPr id="26" name="模式名称 流水化产线"/>
              <p:cNvSpPr txBox="1"/>
              <p:nvPr/>
            </p:nvSpPr>
            <p:spPr>
              <a:xfrm>
                <a:off x="696723" y="202882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流水化产线</a:t>
                </a:r>
              </a:p>
            </p:txBody>
          </p:sp>
          <p:sp>
            <p:nvSpPr>
              <p:cNvPr id="27" name="变化说明 工业2.0"/>
              <p:cNvSpPr txBox="1"/>
              <p:nvPr/>
            </p:nvSpPr>
            <p:spPr>
              <a:xfrm>
                <a:off x="699516" y="231140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按产能组织，量产标准化产品</a:t>
                </a:r>
              </a:p>
            </p:txBody>
          </p:sp>
        </p:grpSp>
        <p:grpSp>
          <p:nvGrpSpPr>
            <p:cNvPr id="31" name="圆形配图 工业2.0 福特流水式生产线"/>
            <p:cNvGrpSpPr/>
            <p:nvPr/>
          </p:nvGrpSpPr>
          <p:grpSpPr>
            <a:xfrm>
              <a:off x="3362325" y="1533525"/>
              <a:ext cx="1276350" cy="1276350"/>
              <a:chOff x="3362325" y="1533525"/>
              <a:chExt cx="1276350" cy="1276350"/>
            </a:xfrm>
          </p:grpSpPr>
          <p:sp>
            <p:nvSpPr>
              <p:cNvPr id="29" name="圆形相框 工业2.0"/>
              <p:cNvSpPr/>
              <p:nvPr/>
            </p:nvSpPr>
            <p:spPr>
              <a:xfrm>
                <a:off x="3362325" y="1533525"/>
                <a:ext cx="1276350" cy="12763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ctr" rotWithShape="0">
                  <a:srgbClr val="0B2A5B">
                    <a:alpha val="13500"/>
                  </a:srgbClr>
                </a:outerShdw>
              </a:effectLst>
            </p:spPr>
          </p:sp>
          <p:pic>
            <p:nvPicPr>
              <p:cNvPr id="30" name="照片 福特流水式生产线（原稿黑白照）"/>
              <p:cNvPicPr>
                <a:picLocks noChangeAspect="1"/>
              </p:cNvPicPr>
              <p:nvPr/>
            </p:nvPicPr>
            <p:blipFill>
              <a:blip r:embed="rId22"/>
              <a:srcRect l="0" t="0" r="52160" b="0"/>
              <a:stretch>
                <a:fillRect/>
              </a:stretch>
            </p:blipFill>
            <p:spPr>
              <a:xfrm>
                <a:off x="3390900" y="1562100"/>
                <a:ext cx="1219200" cy="1219200"/>
              </a:xfrm>
              <a:prstGeom prst="ellipse">
                <a:avLst/>
              </a:prstGeom>
            </p:spPr>
          </p:pic>
        </p:grpSp>
        <p:grpSp>
          <p:nvGrpSpPr>
            <p:cNvPr id="35" name="阶段 工业3.0 自动化"/>
            <p:cNvGrpSpPr/>
            <p:nvPr/>
          </p:nvGrpSpPr>
          <p:grpSpPr>
            <a:xfrm>
              <a:off x="696723" y="2632075"/>
              <a:ext cx="2268904" cy="703834"/>
              <a:chOff x="696723" y="2632075"/>
              <a:chExt cx="2268904" cy="703834"/>
            </a:xfrm>
          </p:grpSpPr>
          <p:sp>
            <p:nvSpPr>
              <p:cNvPr id="32" name="阶段标签 工业3.0 自动化"/>
              <p:cNvSpPr txBox="1"/>
              <p:nvPr/>
            </p:nvSpPr>
            <p:spPr>
              <a:xfrm>
                <a:off x="699261" y="2632075"/>
                <a:ext cx="226636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工业3.0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自动化</a:t>
                </a:r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 xml:space="preserve"> 代表：丰田生产系统</a:t>
                </a:r>
              </a:p>
            </p:txBody>
          </p:sp>
          <p:sp>
            <p:nvSpPr>
              <p:cNvPr id="33" name="模式名称 自动化单元"/>
              <p:cNvSpPr txBox="1"/>
              <p:nvPr/>
            </p:nvSpPr>
            <p:spPr>
              <a:xfrm>
                <a:off x="696723" y="28479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自动化单元</a:t>
                </a:r>
              </a:p>
            </p:txBody>
          </p:sp>
          <p:sp>
            <p:nvSpPr>
              <p:cNvPr id="34" name="变化说明 工业3.0"/>
              <p:cNvSpPr txBox="1"/>
              <p:nvPr/>
            </p:nvSpPr>
            <p:spPr>
              <a:xfrm>
                <a:off x="699516" y="313055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按计划组织，生产多样化产品</a:t>
                </a:r>
              </a:p>
            </p:txBody>
          </p:sp>
        </p:grpSp>
        <p:grpSp>
          <p:nvGrpSpPr>
            <p:cNvPr id="38" name="圆形配图 工业3.0 丰田生产系统"/>
            <p:cNvGrpSpPr/>
            <p:nvPr/>
          </p:nvGrpSpPr>
          <p:grpSpPr>
            <a:xfrm>
              <a:off x="4629150" y="2428875"/>
              <a:ext cx="1085850" cy="1085850"/>
              <a:chOff x="4629150" y="2428875"/>
              <a:chExt cx="1085850" cy="1085850"/>
            </a:xfrm>
          </p:grpSpPr>
          <p:sp>
            <p:nvSpPr>
              <p:cNvPr id="36" name="圆形相框 工业3.0"/>
              <p:cNvSpPr/>
              <p:nvPr/>
            </p:nvSpPr>
            <p:spPr>
              <a:xfrm>
                <a:off x="4629150" y="2428875"/>
                <a:ext cx="1085850" cy="1085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ctr" rotWithShape="0">
                  <a:srgbClr val="0B2A5B">
                    <a:alpha val="13500"/>
                  </a:srgbClr>
                </a:outerShdw>
              </a:effectLst>
            </p:spPr>
          </p:sp>
          <p:pic>
            <p:nvPicPr>
              <p:cNvPr id="37" name="照片 丰田生产线（原稿黑白照）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57725" y="2457450"/>
                <a:ext cx="1028700" cy="1028700"/>
              </a:xfrm>
              <a:prstGeom prst="ellipse">
                <a:avLst/>
              </a:prstGeom>
            </p:spPr>
          </p:pic>
        </p:grpSp>
        <p:grpSp>
          <p:nvGrpSpPr>
            <p:cNvPr id="43" name="配图组 工业4.0（示意）"/>
            <p:cNvGrpSpPr/>
            <p:nvPr/>
          </p:nvGrpSpPr>
          <p:grpSpPr>
            <a:xfrm>
              <a:off x="514350" y="3638550"/>
              <a:ext cx="3352800" cy="1390650"/>
              <a:chOff x="514350" y="3638550"/>
              <a:chExt cx="3352800" cy="1390650"/>
            </a:xfrm>
          </p:grpSpPr>
          <p:pic>
            <p:nvPicPr>
              <p:cNvPr id="39" name="照片 工业机器人生产线（示意）"/>
              <p:cNvPicPr>
                <a:picLocks noChangeAspect="1"/>
              </p:cNvPicPr>
              <p:nvPr/>
            </p:nvPicPr>
            <p:blipFill>
              <a:blip r:embed="rId24"/>
              <a:srcRect l="0" t="14338" r="0" b="14339"/>
              <a:stretch>
                <a:fillRect/>
              </a:stretch>
            </p:blipFill>
            <p:spPr>
              <a:xfrm>
                <a:off x="514350" y="3638550"/>
                <a:ext cx="3219450" cy="1390650"/>
              </a:xfrm>
              <a:prstGeom prst="rect">
                <a:avLst/>
              </a:prstGeom>
              <a:effectLst>
                <a:outerShdw blurRad="76200" dist="19050" dir="5400000" algn="ctr" rotWithShape="0">
                  <a:srgbClr val="0B2A5B">
                    <a:alpha val="12000"/>
                  </a:srgbClr>
                </a:outerShdw>
              </a:effectLst>
            </p:spPr>
          </p:pic>
          <p:sp>
            <p:nvSpPr>
              <p:cNvPr id="40" name="图注底 示意"/>
              <p:cNvSpPr/>
              <p:nvPr/>
            </p:nvSpPr>
            <p:spPr>
              <a:xfrm>
                <a:off x="2324100" y="3638550"/>
                <a:ext cx="1409700" cy="209550"/>
              </a:xfrm>
              <a:prstGeom prst="rect">
                <a:avLst/>
              </a:prstGeom>
              <a:solidFill>
                <a:srgbClr val="0A1B36">
                  <a:alpha val="72000"/>
                </a:srgbClr>
              </a:solidFill>
              <a:ln>
                <a:noFill/>
              </a:ln>
            </p:spPr>
          </p:sp>
          <p:sp>
            <p:nvSpPr>
              <p:cNvPr id="41" name="图注 示意：工业机器人生产线"/>
              <p:cNvSpPr txBox="1"/>
              <p:nvPr/>
            </p:nvSpPr>
            <p:spPr>
              <a:xfrm>
                <a:off x="2395538" y="3671888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示意：工业机器人生产线</a:t>
                </a:r>
              </a:p>
            </p:txBody>
          </p:sp>
          <p:sp>
            <p:nvSpPr>
              <p:cNvPr id="42" name="引线 工业4.0→配图"/>
              <p:cNvSpPr/>
              <p:nvPr/>
            </p:nvSpPr>
            <p:spPr>
              <a:xfrm>
                <a:off x="3733800" y="3733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9525">
                <a:solidFill>
                  <a:srgbClr val="1D84F5">
                    <a:alpha val="70000"/>
                  </a:srgbClr>
                </a:solidFill>
              </a:ln>
            </p:spPr>
          </p:sp>
        </p:grpSp>
        <p:grpSp>
          <p:nvGrpSpPr>
            <p:cNvPr id="49" name="阶段 工业4.0 智能化"/>
            <p:cNvGrpSpPr/>
            <p:nvPr/>
          </p:nvGrpSpPr>
          <p:grpSpPr>
            <a:xfrm>
              <a:off x="4106673" y="3641725"/>
              <a:ext cx="1346961" cy="1068387"/>
              <a:chOff x="4106673" y="3641725"/>
              <a:chExt cx="1346961" cy="1068387"/>
            </a:xfrm>
          </p:grpSpPr>
          <p:sp>
            <p:nvSpPr>
              <p:cNvPr id="44" name="阶段标签 工业4.0 智能化"/>
              <p:cNvSpPr txBox="1"/>
              <p:nvPr/>
            </p:nvSpPr>
            <p:spPr>
              <a:xfrm>
                <a:off x="4109211" y="3641725"/>
                <a:ext cx="105478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工业4.0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智能化</a:t>
                </a:r>
              </a:p>
            </p:txBody>
          </p:sp>
          <p:sp>
            <p:nvSpPr>
              <p:cNvPr id="45" name="模式名称 柔性化系统"/>
              <p:cNvSpPr txBox="1"/>
              <p:nvPr/>
            </p:nvSpPr>
            <p:spPr>
              <a:xfrm>
                <a:off x="4106673" y="385762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柔性化系统</a:t>
                </a:r>
              </a:p>
            </p:txBody>
          </p:sp>
          <p:sp>
            <p:nvSpPr>
              <p:cNvPr id="47" name="变化说明 工业4.0"/>
              <p:cNvSpPr txBox="1"/>
              <p:nvPr/>
            </p:nvSpPr>
            <p:spPr>
              <a:xfrm>
                <a:off x="4109466" y="4127500"/>
                <a:ext cx="1344168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由客户驱动，</a:t>
                </a:r>
                <a:b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</a:br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生产定制化多样性产品</a:t>
                </a:r>
              </a:p>
            </p:txBody>
          </p:sp>
          <p:sp>
            <p:nvSpPr>
              <p:cNvPr id="48" name="代表案例 工业4.0"/>
              <p:cNvSpPr txBox="1"/>
              <p:nvPr/>
            </p:nvSpPr>
            <p:spPr>
              <a:xfrm>
                <a:off x="4110038" y="4533900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>代表：西门子黑灯工厂</a:t>
                </a:r>
              </a:p>
            </p:txBody>
          </p:sp>
        </p:grpSp>
        <p:grpSp>
          <p:nvGrpSpPr>
            <p:cNvPr id="922" name="配图组 下一阶段 项目孪生平台"/>
            <p:cNvGrpSpPr/>
            <p:nvPr/>
          </p:nvGrpSpPr>
          <p:grpSpPr>
            <a:xfrm>
              <a:off x="514350" y="5162550"/>
              <a:ext cx="3305175" cy="1390650"/>
              <a:chOff x="514350" y="5162550"/>
              <a:chExt cx="3305175" cy="1390650"/>
            </a:xfrm>
          </p:grpSpPr>
          <p:pic>
            <p:nvPicPr>
              <p:cNvPr id="50" name="截图 项目孪生平台界面（取自开发流程页）"/>
              <p:cNvPicPr>
                <a:picLocks noChangeAspect="1"/>
              </p:cNvPicPr>
              <p:nvPr/>
            </p:nvPicPr>
            <p:blipFill>
              <a:blip r:embed="rId25"/>
              <a:srcRect l="0" t="11518" r="0" b="11519"/>
              <a:stretch>
                <a:fillRect/>
              </a:stretch>
            </p:blipFill>
            <p:spPr>
              <a:xfrm>
                <a:off x="514350" y="5162550"/>
                <a:ext cx="3219450" cy="1390650"/>
              </a:xfrm>
              <a:prstGeom prst="rect">
                <a:avLst/>
              </a:prstGeom>
              <a:effectLst>
                <a:outerShdw blurRad="76200" dist="19050" dir="5400000" algn="ctr" rotWithShape="0">
                  <a:srgbClr val="0B2A5B">
                    <a:alpha val="12000"/>
                  </a:srgbClr>
                </a:outerShdw>
              </a:effectLst>
            </p:spPr>
          </p:pic>
          <p:sp>
            <p:nvSpPr>
              <p:cNvPr id="923" name="图注底 项目孪生平台"/>
              <p:cNvSpPr/>
              <p:nvPr/>
            </p:nvSpPr>
            <p:spPr>
              <a:xfrm>
                <a:off x="2667000" y="5162550"/>
                <a:ext cx="1066800" cy="209550"/>
              </a:xfrm>
              <a:prstGeom prst="rect">
                <a:avLst/>
              </a:prstGeom>
              <a:solidFill>
                <a:srgbClr val="0A1B36">
                  <a:alpha val="72000"/>
                </a:srgbClr>
              </a:solidFill>
              <a:ln>
                <a:noFill/>
              </a:ln>
            </p:spPr>
          </p:sp>
          <p:sp>
            <p:nvSpPr>
              <p:cNvPr id="53" name="图注 项目孪生平台界面"/>
              <p:cNvSpPr txBox="1"/>
              <p:nvPr/>
            </p:nvSpPr>
            <p:spPr>
              <a:xfrm>
                <a:off x="2738438" y="5195888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项目孪生平台界面</a:t>
                </a:r>
              </a:p>
            </p:txBody>
          </p:sp>
          <p:sp>
            <p:nvSpPr>
              <p:cNvPr id="924" name="引线 下一阶段→配图"/>
              <p:cNvSpPr/>
              <p:nvPr/>
            </p:nvSpPr>
            <p:spPr>
              <a:xfrm>
                <a:off x="3733800" y="52578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9525">
                <a:solidFill>
                  <a:srgbClr val="1D84F5">
                    <a:alpha val="70000"/>
                  </a:srgbClr>
                </a:solidFill>
              </a:ln>
            </p:spPr>
          </p:sp>
        </p:grpSp>
        <p:grpSp>
          <p:nvGrpSpPr>
            <p:cNvPr id="60" name="下一阶段 演进化系统（项目方向）"/>
            <p:cNvGrpSpPr/>
            <p:nvPr/>
          </p:nvGrpSpPr>
          <p:grpSpPr>
            <a:xfrm>
              <a:off x="4106673" y="5165725"/>
              <a:ext cx="1377182" cy="703834"/>
              <a:chOff x="4106673" y="5165725"/>
              <a:chExt cx="1377182" cy="703834"/>
            </a:xfrm>
          </p:grpSpPr>
          <p:sp>
            <p:nvSpPr>
              <p:cNvPr id="57" name="阶段标签 下一阶段·项目方向"/>
              <p:cNvSpPr txBox="1"/>
              <p:nvPr/>
            </p:nvSpPr>
            <p:spPr>
              <a:xfrm>
                <a:off x="4109211" y="5165725"/>
                <a:ext cx="1374644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下一阶段 · 项目方向</a:t>
                </a:r>
              </a:p>
            </p:txBody>
          </p:sp>
          <p:sp>
            <p:nvSpPr>
              <p:cNvPr id="58" name="模式名称 演进化系统"/>
              <p:cNvSpPr txBox="1"/>
              <p:nvPr/>
            </p:nvSpPr>
            <p:spPr>
              <a:xfrm>
                <a:off x="4106673" y="538162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演进化系统</a:t>
                </a:r>
              </a:p>
            </p:txBody>
          </p:sp>
          <p:sp>
            <p:nvSpPr>
              <p:cNvPr id="59" name="变化说明 下一阶段"/>
              <p:cNvSpPr txBox="1"/>
              <p:nvPr/>
            </p:nvSpPr>
            <p:spPr>
              <a:xfrm>
                <a:off x="4109466" y="5664200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适应环境，持续演进</a:t>
                </a:r>
              </a:p>
            </p:txBody>
          </p:sp>
        </p:grpSp>
        <p:sp>
          <p:nvSpPr>
            <p:cNvPr id="62" name="过渡句 引出生产物流协同"/>
            <p:cNvSpPr txBox="1"/>
            <p:nvPr/>
          </p:nvSpPr>
          <p:spPr>
            <a:xfrm>
              <a:off x="4109466" y="5956300"/>
              <a:ext cx="147751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  <a:t>系统越柔性、越可演进，</a:t>
              </a:r>
              <a:b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  <a:t>生产与物流越需要</a:t>
              </a:r>
              <a:r>
                <a:rPr lang="zh-CN" sz="1050" b="1" dirty="0">
                  <a:solidFill>
                    <a:srgbClr val="1D84F5"/>
                  </a:solidFill>
                  <a:latin typeface="Microsoft YaHei"/>
                  <a:ea typeface="Microsoft YaHei"/>
                  <a:cs typeface="Microsoft YaHei"/>
                </a:rPr>
                <a:t>协同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35"/>
    </mc:Choice>
    <mc:Fallback xmlns="">
      <p:transition advTm="73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heme/theme1.xml><?xml version="1.0" encoding="utf-8"?>
<a:theme xmlns:a="http://schemas.openxmlformats.org/drawingml/2006/main" name="2_Office 主题​​">
  <a:themeElements>
    <a:clrScheme name="【07.18】胃来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84F5"/>
      </a:accent1>
      <a:accent2>
        <a:srgbClr val="0750C3"/>
      </a:accent2>
      <a:accent3>
        <a:srgbClr val="EB510D"/>
      </a:accent3>
      <a:accent4>
        <a:srgbClr val="EF8130"/>
      </a:accent4>
      <a:accent5>
        <a:srgbClr val="CE990D"/>
      </a:accent5>
      <a:accent6>
        <a:srgbClr val="70AD47"/>
      </a:accent6>
      <a:hlink>
        <a:srgbClr val="0563C1"/>
      </a:hlink>
      <a:folHlink>
        <a:srgbClr val="954F72"/>
      </a:folHlink>
    </a:clrScheme>
    <a:fontScheme name="01方案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 cap="flat" cmpd="sng" algn="ctr">
          <a:noFill/>
          <a:prstDash val="solid"/>
          <a:miter lim="800000"/>
        </a:ln>
      </a:spPr>
      <a:bodyPr rtlCol="0" anchor="ctr"/>
      <a:lstStyle>
        <a:defPPr algn="ctr">
          <a:defRPr sz="2000" dirty="0" smtClean="0"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ctr">
          <a:defRPr sz="2000" dirty="0">
            <a:solidFill>
              <a:schemeClr val="tx1">
                <a:lumMod val="85000"/>
                <a:lumOff val="1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2969</TotalTime>
  <Words>181</Words>
  <Application>Microsoft Office PowerPoint</Application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汉仪雅酷黑 75W</vt:lpstr>
      <vt:lpstr>Arial</vt:lpstr>
      <vt:lpstr>2_Office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365VIP</dc:creator>
  <cp:lastModifiedBy>ZC Xu</cp:lastModifiedBy>
  <cp:revision>1634</cp:revision>
  <dcterms:created xsi:type="dcterms:W3CDTF">2023-10-22T05:05:00Z</dcterms:created>
  <dcterms:modified xsi:type="dcterms:W3CDTF">2026-10-19T12:09:25Z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1FB99FC6068846439C09D411A1C4F6B7_13</vt:lpwstr>
  </property>
  <property fmtid="{D5CDD505-2E9C-101B-9397-08002B2CF9AE}" pid="3" name="KSOProductBuildVer">
    <vt:lpwstr>2052-12.1.0.28505</vt:lpwstr>
  </property>
</Properties>
</file>